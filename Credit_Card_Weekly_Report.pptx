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dd7c25a-1d8b-fe99-3e20-de8f1540e0ad}">
          <p14:sldIdLst>
            <p14:sldId id="256"/>
            <p14:sldId id="257"/>
          </p14:sldIdLst>
        </p14:section>
        <p14:section name="Performance" id="{4f89f53a-7441-601e-206b-320cc8b55c76}">
          <p14:sldIdLst>
            <p14:sldId id="258"/>
            <p14:sldId id="259"/>
            <p14:sldId id="260"/>
          </p14:sldIdLst>
        </p14:section>
        <p14:section name="Customers" id="{3c27b136-cefc-16f8-d82f-f691c76bd22e}">
          <p14:sldIdLst>
            <p14:sldId id="261"/>
            <p14:sldId id="262"/>
            <p14:sldId id="263"/>
          </p14:sldIdLst>
        </p14:section>
        <p14:section name="Wrap-up" id="{a45c2345-0dbd-7c49-d3ab-9599ee4cf057}">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3C"/>
                </a:solidFill>
                <a:latin typeface="+mn-lt"/>
              </a:defRPr>
            </a:pPr>
            <a:r>
              <a:rPr sz="1400" b="0" i="0" u="none" strike="noStrike">
                <a:solidFill>
                  <a:srgbClr val="0B3B3C"/>
                </a:solidFill>
                <a:latin typeface="+mn-lt"/>
              </a:rPr>
              <a:t>Revenue and transaction amount by quarter (M)</a:t>
            </a:r>
          </a:p>
        </c:rich>
      </c:tx>
      <c:layout/>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0E9F8E"/>
            </a:solidFill>
            <a:effectLst/>
          </c:spPr>
          <c:invertIfNegative val="0"/>
          <c:dLbls>
            <c:numFmt formatCode="0.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14</c:v>
                </c:pt>
                <c:pt idx="1">
                  <c:v>13.8</c:v>
                </c:pt>
                <c:pt idx="2">
                  <c:v>14.2</c:v>
                </c:pt>
                <c:pt idx="3">
                  <c:v>13.3</c:v>
                </c:pt>
              </c:numCache>
            </c:numRef>
          </c:val>
        </c:ser>
        <c:ser>
          <c:idx val="1"/>
          <c:order val="1"/>
          <c:tx>
            <c:strRef>
              <c:f>Sheet1!$C$1</c:f>
              <c:strCache>
                <c:ptCount val="1"/>
                <c:pt idx="0">
                  <c:v>Transaction amount</c:v>
                </c:pt>
              </c:strCache>
            </c:strRef>
          </c:tx>
          <c:spPr>
            <a:solidFill>
              <a:srgbClr val="6B8E3D"/>
            </a:solidFill>
            <a:effectLst/>
          </c:spPr>
          <c:invertIfNegative val="0"/>
          <c:dLbls>
            <c:numFmt formatCode="0.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11.25</c:v>
                </c:pt>
                <c:pt idx="1">
                  <c:v>11.14</c:v>
                </c:pt>
                <c:pt idx="2">
                  <c:v>11.45</c:v>
                </c:pt>
                <c:pt idx="3">
                  <c:v>10.69</c:v>
                </c:pt>
              </c:numCache>
            </c:numRef>
          </c:val>
        </c:ser>
        <c:dLbls>
          <c:numFmt formatCode="0.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17"/>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4A5D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F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3C"/>
                </a:solidFill>
                <a:latin typeface="+mn-lt"/>
              </a:defRPr>
            </a:pPr>
            <a:r>
              <a:rPr sz="1400" b="0" i="0" u="none" strike="noStrike">
                <a:solidFill>
                  <a:srgbClr val="0B3B3C"/>
                </a:solidFill>
                <a:latin typeface="+mn-lt"/>
              </a:rPr>
              <a:t>Revenue by expenditure type (M)</a:t>
            </a:r>
          </a:p>
        </c:rich>
      </c:tx>
      <c:layout/>
      <c:overlay val="0"/>
    </c:title>
    <c:autoTitleDeleted val="0"/>
    <c:plotArea>
      <c:layout/>
      <c:barChart>
        <c:barDir val="bar"/>
        <c:grouping val="clustered"/>
        <c:varyColors val="0"/>
        <c:ser>
          <c:idx val="0"/>
          <c:order val="0"/>
          <c:tx>
            <c:strRef>
              <c:f>Sheet1!$B$1</c:f>
              <c:strCache>
                <c:ptCount val="1"/>
                <c:pt idx="0">
                  <c:v>Revenue by expenditure type (M)</c:v>
                </c:pt>
              </c:strCache>
            </c:strRef>
          </c:tx>
          <c:spPr>
            <a:solidFill>
              <a:srgbClr val="0E9F8E"/>
            </a:solidFill>
            <a:effectLst/>
          </c:spPr>
          <c:invertIfNegative val="0"/>
          <c:dLbls>
            <c:numFmt formatCode="0.0&quot;M&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Sheet1!$A$2:$A$7</c:f>
              <c:multiLvlStrCache>
                <c:ptCount val="6"/>
                <c:lvl>
                  <c:pt idx="0">
                    <c:v>Bills</c:v>
                  </c:pt>
                  <c:pt idx="1">
                    <c:v>Entertainment</c:v>
                  </c:pt>
                  <c:pt idx="2">
                    <c:v>Fuel</c:v>
                  </c:pt>
                  <c:pt idx="3">
                    <c:v>Grocery</c:v>
                  </c:pt>
                  <c:pt idx="4">
                    <c:v>Food</c:v>
                  </c:pt>
                  <c:pt idx="5">
                    <c:v>Travel</c:v>
                  </c:pt>
                </c:lvl>
              </c:multiLvlStrCache>
            </c:multiLvlStrRef>
          </c:cat>
          <c:val>
            <c:numRef>
              <c:f>Sheet1!$B$2:$B$7</c:f>
              <c:numCache>
                <c:formatCode>General</c:formatCode>
                <c:ptCount val="6"/>
                <c:pt idx="0">
                  <c:v>13.8</c:v>
                </c:pt>
                <c:pt idx="1">
                  <c:v>9.5</c:v>
                </c:pt>
                <c:pt idx="2">
                  <c:v>9.3</c:v>
                </c:pt>
                <c:pt idx="3">
                  <c:v>8.6</c:v>
                </c:pt>
                <c:pt idx="4">
                  <c:v>8.3</c:v>
                </c:pt>
                <c:pt idx="5">
                  <c:v>5.9</c:v>
                </c:pt>
              </c:numCache>
            </c:numRef>
          </c:val>
        </c:ser>
        <c:dLbls>
          <c:numFmt formatCode="0.0&quot;M&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16.56"/>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4A5D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3C"/>
                </a:solidFill>
                <a:latin typeface="+mn-lt"/>
              </a:defRPr>
            </a:pPr>
            <a:r>
              <a:rPr sz="1400" b="0" i="0" u="none" strike="noStrike">
                <a:solidFill>
                  <a:srgbClr val="0B3B3C"/>
                </a:solidFill>
                <a:latin typeface="+mn-lt"/>
              </a:rPr>
              <a:t>Revenue by channel (M)</a:t>
            </a:r>
          </a:p>
        </c:rich>
      </c:tx>
      <c:layout/>
      <c:overlay val="0"/>
    </c:title>
    <c:autoTitleDeleted val="0"/>
    <c:plotArea>
      <c:layout/>
      <c:doughnutChart>
        <c:varyColors val="1"/>
        <c:ser>
          <c:idx val="0"/>
          <c:order val="0"/>
          <c:tx>
            <c:strRef>
              <c:f>Sheet1!$B$1</c:f>
              <c:strCache>
                <c:ptCount val="1"/>
                <c:pt idx="0">
                  <c:v>Channel</c:v>
                </c:pt>
              </c:strCache>
            </c:strRef>
          </c:tx>
          <c:spPr>
            <a:solidFill>
              <a:schemeClr val="accent1"/>
            </a:solidFill>
            <a:ln w="9525" cap="flat">
              <a:solidFill>
                <a:srgbClr val="F9F9F9"/>
              </a:solidFill>
              <a:prstDash val="solid"/>
              <a:round/>
            </a:ln>
            <a:effectLst/>
          </c:spPr>
          <c:dPt>
            <c:idx val="0"/>
            <c:bubble3D val="0"/>
            <c:spPr>
              <a:solidFill>
                <a:srgbClr val="0E9F8E"/>
              </a:solidFill>
              <a:effectLst/>
            </c:spPr>
          </c:dPt>
          <c:dPt>
            <c:idx val="1"/>
            <c:bubble3D val="0"/>
            <c:spPr>
              <a:solidFill>
                <a:srgbClr val="6B8E3D"/>
              </a:solidFill>
              <a:effectLst/>
            </c:spPr>
          </c:dPt>
          <c:dPt>
            <c:idx val="2"/>
            <c:bubble3D val="0"/>
            <c:spPr>
              <a:solidFill>
                <a:srgbClr val="F2A541"/>
              </a:solidFill>
              <a:effectLst/>
            </c:spPr>
          </c:dPt>
          <c:dLbls>
            <c:dLbl>
              <c:idx val="0"/>
              <c:numFmt formatCode="0&quot;M&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1"/>
              <c:numFmt formatCode="0&quot;M&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2"/>
              <c:numFmt formatCode="0&quot;M&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numFmt formatCode="0&quot;M&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Swipe</c:v>
                </c:pt>
                <c:pt idx="1">
                  <c:v>Chip</c:v>
                </c:pt>
                <c:pt idx="2">
                  <c:v>Online</c:v>
                </c:pt>
              </c:strCache>
            </c:strRef>
          </c:cat>
          <c:val>
            <c:numRef>
              <c:f>Sheet1!$B$2:$B$4</c:f>
              <c:numCache>
                <c:ptCount val="3"/>
                <c:pt idx="0">
                  <c:v>35</c:v>
                </c:pt>
                <c:pt idx="1">
                  <c:v>17</c:v>
                </c:pt>
                <c:pt idx="2">
                  <c:v>3</c:v>
                </c:pt>
              </c:numCache>
            </c:numRef>
          </c:val>
        </c:ser>
        <c:firstSliceAng val="0"/>
        <c:holeSize val="55"/>
      </c:doughnutChart>
      <c:spPr>
        <a:noFill/>
        <a:ln>
          <a:noFill/>
        </a:ln>
        <a:effectLst/>
      </c:spPr>
    </c:plotArea>
    <c:legend>
      <c:legendPos val="b"/>
      <c:overlay val="0"/>
      <c:txPr>
        <a:bodyPr/>
        <a:lstStyle/>
        <a:p>
          <a:pPr>
            <a:defRPr sz="1200">
              <a:solidFill>
                <a:srgbClr val="1B1F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3C"/>
                </a:solidFill>
                <a:latin typeface="+mn-lt"/>
              </a:defRPr>
            </a:pPr>
            <a:r>
              <a:rPr sz="1400" b="0" i="0" u="none" strike="noStrike">
                <a:solidFill>
                  <a:srgbClr val="0B3B3C"/>
                </a:solidFill>
                <a:latin typeface="+mn-lt"/>
              </a:rPr>
              <a:t>Revenue by customer job (M)</a:t>
            </a:r>
          </a:p>
        </c:rich>
      </c:tx>
      <c:layout/>
      <c:overlay val="0"/>
    </c:title>
    <c:autoTitleDeleted val="0"/>
    <c:plotArea>
      <c:layout/>
      <c:barChart>
        <c:barDir val="bar"/>
        <c:grouping val="clustered"/>
        <c:varyColors val="0"/>
        <c:ser>
          <c:idx val="0"/>
          <c:order val="0"/>
          <c:tx>
            <c:strRef>
              <c:f>Sheet1!$B$1</c:f>
              <c:strCache>
                <c:ptCount val="1"/>
                <c:pt idx="0">
                  <c:v>Revenue by customer job (M)</c:v>
                </c:pt>
              </c:strCache>
            </c:strRef>
          </c:tx>
          <c:spPr>
            <a:solidFill>
              <a:srgbClr val="0E9F8E"/>
            </a:solidFill>
            <a:effectLst/>
          </c:spPr>
          <c:invertIfNegative val="0"/>
          <c:dLbls>
            <c:numFmt formatCode="0.0&quot;M&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Sheet1!$A$2:$A$7</c:f>
              <c:multiLvlStrCache>
                <c:ptCount val="6"/>
                <c:lvl>
                  <c:pt idx="0">
                    <c:v>Businessman</c:v>
                  </c:pt>
                  <c:pt idx="1">
                    <c:v>White-collar</c:v>
                  </c:pt>
                  <c:pt idx="2">
                    <c:v>Selfemployed</c:v>
                  </c:pt>
                  <c:pt idx="3">
                    <c:v>Govt</c:v>
                  </c:pt>
                  <c:pt idx="4">
                    <c:v>Blue-collar</c:v>
                  </c:pt>
                  <c:pt idx="5">
                    <c:v>Retirees</c:v>
                  </c:pt>
                </c:lvl>
              </c:multiLvlStrCache>
            </c:multiLvlStrRef>
          </c:cat>
          <c:val>
            <c:numRef>
              <c:f>Sheet1!$B$2:$B$7</c:f>
              <c:numCache>
                <c:formatCode>General</c:formatCode>
                <c:ptCount val="6"/>
                <c:pt idx="0">
                  <c:v>17.4</c:v>
                </c:pt>
                <c:pt idx="1">
                  <c:v>10.1</c:v>
                </c:pt>
                <c:pt idx="2">
                  <c:v>8.3</c:v>
                </c:pt>
                <c:pt idx="3">
                  <c:v>8.1</c:v>
                </c:pt>
                <c:pt idx="4">
                  <c:v>6.9</c:v>
                </c:pt>
                <c:pt idx="5">
                  <c:v>4.5</c:v>
                </c:pt>
              </c:numCache>
            </c:numRef>
          </c:val>
        </c:ser>
        <c:dLbls>
          <c:numFmt formatCode="0.0&quot;M&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20.88"/>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4A5D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3C"/>
                </a:solidFill>
                <a:latin typeface="+mn-lt"/>
              </a:defRPr>
            </a:pPr>
            <a:r>
              <a:rPr sz="1400" b="0" i="0" u="none" strike="noStrike">
                <a:solidFill>
                  <a:srgbClr val="0B3B3C"/>
                </a:solidFill>
                <a:latin typeface="+mn-lt"/>
              </a:rPr>
              <a:t>Revenue by education level (M)</a:t>
            </a:r>
          </a:p>
        </c:rich>
      </c:tx>
      <c:layout/>
      <c:overlay val="0"/>
    </c:title>
    <c:autoTitleDeleted val="0"/>
    <c:plotArea>
      <c:layout/>
      <c:barChart>
        <c:barDir val="bar"/>
        <c:grouping val="clustered"/>
        <c:varyColors val="0"/>
        <c:ser>
          <c:idx val="0"/>
          <c:order val="0"/>
          <c:tx>
            <c:strRef>
              <c:f>Sheet1!$B$1</c:f>
              <c:strCache>
                <c:ptCount val="1"/>
                <c:pt idx="0">
                  <c:v>Revenue by education level (M)</c:v>
                </c:pt>
              </c:strCache>
            </c:strRef>
          </c:tx>
          <c:spPr>
            <a:solidFill>
              <a:srgbClr val="6B8E3D"/>
            </a:solidFill>
            <a:effectLst/>
          </c:spPr>
          <c:invertIfNegative val="0"/>
          <c:dLbls>
            <c:numFmt formatCode="0.0&quot;M&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Sheet1!$A$2:$A$7</c:f>
              <c:multiLvlStrCache>
                <c:ptCount val="6"/>
                <c:lvl>
                  <c:pt idx="0">
                    <c:v>Graduate</c:v>
                  </c:pt>
                  <c:pt idx="1">
                    <c:v>High School</c:v>
                  </c:pt>
                  <c:pt idx="2">
                    <c:v>Unknown</c:v>
                  </c:pt>
                  <c:pt idx="3">
                    <c:v>Uneducated</c:v>
                  </c:pt>
                  <c:pt idx="4">
                    <c:v>Post-Graduate</c:v>
                  </c:pt>
                  <c:pt idx="5">
                    <c:v>Doctorate</c:v>
                  </c:pt>
                </c:lvl>
              </c:multiLvlStrCache>
            </c:multiLvlStrRef>
          </c:cat>
          <c:val>
            <c:numRef>
              <c:f>Sheet1!$B$2:$B$7</c:f>
              <c:numCache>
                <c:formatCode>General</c:formatCode>
                <c:ptCount val="6"/>
                <c:pt idx="0">
                  <c:v>22</c:v>
                </c:pt>
                <c:pt idx="1">
                  <c:v>11</c:v>
                </c:pt>
                <c:pt idx="2">
                  <c:v>8</c:v>
                </c:pt>
                <c:pt idx="3">
                  <c:v>8</c:v>
                </c:pt>
                <c:pt idx="4">
                  <c:v>3</c:v>
                </c:pt>
                <c:pt idx="5">
                  <c:v>2</c:v>
                </c:pt>
              </c:numCache>
            </c:numRef>
          </c:val>
        </c:ser>
        <c:dLbls>
          <c:numFmt formatCode="0.0&quot;M&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26.4"/>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4A5D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3C"/>
                </a:solidFill>
                <a:latin typeface="+mn-lt"/>
              </a:defRPr>
            </a:pPr>
            <a:r>
              <a:rPr sz="1400" b="0" i="0" u="none" strike="noStrike">
                <a:solidFill>
                  <a:srgbClr val="0B3B3C"/>
                </a:solidFill>
                <a:latin typeface="+mn-lt"/>
              </a:rPr>
              <a:t>Revenue by age group (M)</a:t>
            </a:r>
          </a:p>
        </c:rich>
      </c:tx>
      <c:layout/>
      <c:overlay val="0"/>
    </c:title>
    <c:autoTitleDeleted val="0"/>
    <c:plotArea>
      <c:layout/>
      <c:barChart>
        <c:barDir val="col"/>
        <c:grouping val="clustered"/>
        <c:varyColors val="0"/>
        <c:ser>
          <c:idx val="0"/>
          <c:order val="0"/>
          <c:tx>
            <c:strRef>
              <c:f>Sheet1!$B$1</c:f>
              <c:strCache>
                <c:ptCount val="1"/>
                <c:pt idx="0">
                  <c:v>Revenue by age group (M)</c:v>
                </c:pt>
              </c:strCache>
            </c:strRef>
          </c:tx>
          <c:spPr>
            <a:solidFill>
              <a:srgbClr val="0E9F8E"/>
            </a:solidFill>
            <a:effectLst/>
          </c:spPr>
          <c:invertIfNegative val="0"/>
          <c:dLbls>
            <c:numFmt formatCode="0.0&quot;M&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30-40</c:v>
                  </c:pt>
                  <c:pt idx="1">
                    <c:v>40-50</c:v>
                  </c:pt>
                  <c:pt idx="2">
                    <c:v>50-60</c:v>
                  </c:pt>
                </c:lvl>
              </c:multiLvlStrCache>
            </c:multiLvlStrRef>
          </c:cat>
          <c:val>
            <c:numRef>
              <c:f>Sheet1!$B$2:$B$4</c:f>
              <c:numCache>
                <c:formatCode>General</c:formatCode>
                <c:ptCount val="3"/>
                <c:pt idx="0">
                  <c:v>9</c:v>
                </c:pt>
                <c:pt idx="1">
                  <c:v>25</c:v>
                </c:pt>
                <c:pt idx="2">
                  <c:v>19</c:v>
                </c:pt>
              </c:numCache>
            </c:numRef>
          </c:val>
        </c:ser>
        <c:dLbls>
          <c:numFmt formatCode="0.0&quot;M&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30"/>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4A5D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3C"/>
                </a:solidFill>
                <a:latin typeface="+mn-lt"/>
              </a:defRPr>
            </a:pPr>
            <a:r>
              <a:rPr sz="1400" b="0" i="0" u="none" strike="noStrike">
                <a:solidFill>
                  <a:srgbClr val="0B3B3C"/>
                </a:solidFill>
                <a:latin typeface="+mn-lt"/>
              </a:rPr>
              <a:t>Revenue by income group (M)</a:t>
            </a:r>
          </a:p>
        </c:rich>
      </c:tx>
      <c:layout/>
      <c:overlay val="0"/>
    </c:title>
    <c:autoTitleDeleted val="0"/>
    <c:plotArea>
      <c:layout/>
      <c:barChart>
        <c:barDir val="col"/>
        <c:grouping val="clustered"/>
        <c:varyColors val="0"/>
        <c:ser>
          <c:idx val="0"/>
          <c:order val="0"/>
          <c:tx>
            <c:strRef>
              <c:f>Sheet1!$B$1</c:f>
              <c:strCache>
                <c:ptCount val="1"/>
                <c:pt idx="0">
                  <c:v>Revenue by income group (M)</c:v>
                </c:pt>
              </c:strCache>
            </c:strRef>
          </c:tx>
          <c:spPr>
            <a:solidFill>
              <a:srgbClr val="6B8E3D"/>
            </a:solidFill>
            <a:effectLst/>
          </c:spPr>
          <c:invertIfNegative val="0"/>
          <c:dLbls>
            <c:numFmt formatCode="0.0&quot;M&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High</c:v>
                  </c:pt>
                  <c:pt idx="1">
                    <c:v>Med</c:v>
                  </c:pt>
                  <c:pt idx="2">
                    <c:v>Low</c:v>
                  </c:pt>
                </c:lvl>
              </c:multiLvlStrCache>
            </c:multiLvlStrRef>
          </c:cat>
          <c:val>
            <c:numRef>
              <c:f>Sheet1!$B$2:$B$4</c:f>
              <c:numCache>
                <c:formatCode>General</c:formatCode>
                <c:ptCount val="3"/>
                <c:pt idx="0">
                  <c:v>29</c:v>
                </c:pt>
                <c:pt idx="1">
                  <c:v>16</c:v>
                </c:pt>
                <c:pt idx="2">
                  <c:v>10</c:v>
                </c:pt>
              </c:numCache>
            </c:numRef>
          </c:val>
        </c:ser>
        <c:dLbls>
          <c:numFmt formatCode="0.0&quot;M&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34.8"/>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4A5D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3C"/>
                </a:solidFill>
                <a:latin typeface="+mn-lt"/>
              </a:defRPr>
            </a:pPr>
            <a:r>
              <a:rPr sz="1400" b="0" i="0" u="none" strike="noStrike">
                <a:solidFill>
                  <a:srgbClr val="0B3B3C"/>
                </a:solidFill>
                <a:latin typeface="+mn-lt"/>
              </a:rPr>
              <a:t>Revenue by state (M)</a:t>
            </a:r>
          </a:p>
        </c:rich>
      </c:tx>
      <c:layout/>
      <c:overlay val="0"/>
    </c:title>
    <c:autoTitleDeleted val="0"/>
    <c:plotArea>
      <c:layout/>
      <c:barChart>
        <c:barDir val="bar"/>
        <c:grouping val="clustered"/>
        <c:varyColors val="0"/>
        <c:ser>
          <c:idx val="0"/>
          <c:order val="0"/>
          <c:tx>
            <c:strRef>
              <c:f>Sheet1!$B$1</c:f>
              <c:strCache>
                <c:ptCount val="1"/>
                <c:pt idx="0">
                  <c:v>Revenue by state (M)</c:v>
                </c:pt>
              </c:strCache>
            </c:strRef>
          </c:tx>
          <c:spPr>
            <a:solidFill>
              <a:srgbClr val="0E9F8E"/>
            </a:solidFill>
            <a:effectLst/>
          </c:spPr>
          <c:invertIfNegative val="0"/>
          <c:dLbls>
            <c:numFmt formatCode="0.0&quot;M&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Sheet1!$A$2:$A$5</c:f>
              <c:multiLvlStrCache>
                <c:ptCount val="4"/>
                <c:lvl>
                  <c:pt idx="0">
                    <c:v>TX</c:v>
                  </c:pt>
                  <c:pt idx="1">
                    <c:v>NY</c:v>
                  </c:pt>
                  <c:pt idx="2">
                    <c:v>CA</c:v>
                  </c:pt>
                  <c:pt idx="3">
                    <c:v>FL</c:v>
                  </c:pt>
                </c:lvl>
              </c:multiLvlStrCache>
            </c:multiLvlStrRef>
          </c:cat>
          <c:val>
            <c:numRef>
              <c:f>Sheet1!$B$2:$B$5</c:f>
              <c:numCache>
                <c:formatCode>General</c:formatCode>
                <c:ptCount val="4"/>
                <c:pt idx="0">
                  <c:v>12.9</c:v>
                </c:pt>
                <c:pt idx="1">
                  <c:v>12.7</c:v>
                </c:pt>
                <c:pt idx="2">
                  <c:v>12.6</c:v>
                </c:pt>
                <c:pt idx="3">
                  <c:v>9.7</c:v>
                </c:pt>
              </c:numCache>
            </c:numRef>
          </c:val>
        </c:ser>
        <c:dLbls>
          <c:numFmt formatCode="0.0&quot;M&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15.48"/>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4A5D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3C"/>
                </a:solidFill>
                <a:latin typeface="+mn-lt"/>
              </a:defRPr>
            </a:pPr>
            <a:r>
              <a:rPr sz="1400" b="0" i="0" u="none" strike="noStrike">
                <a:solidFill>
                  <a:srgbClr val="0B3B3C"/>
                </a:solidFill>
                <a:latin typeface="+mn-lt"/>
              </a:rPr>
              <a:t>Revenue by marital status (M)</a:t>
            </a:r>
          </a:p>
        </c:rich>
      </c:tx>
      <c:layout/>
      <c:overlay val="0"/>
    </c:title>
    <c:autoTitleDeleted val="0"/>
    <c:plotArea>
      <c:layout/>
      <c:barChart>
        <c:barDir val="col"/>
        <c:grouping val="clustered"/>
        <c:varyColors val="0"/>
        <c:ser>
          <c:idx val="0"/>
          <c:order val="0"/>
          <c:tx>
            <c:strRef>
              <c:f>Sheet1!$B$1</c:f>
              <c:strCache>
                <c:ptCount val="1"/>
                <c:pt idx="0">
                  <c:v>Revenue by marital status (M)</c:v>
                </c:pt>
              </c:strCache>
            </c:strRef>
          </c:tx>
          <c:spPr>
            <a:solidFill>
              <a:srgbClr val="6B8E3D"/>
            </a:solidFill>
            <a:effectLst/>
          </c:spPr>
          <c:invertIfNegative val="0"/>
          <c:dLbls>
            <c:numFmt formatCode="0.0&quot;M&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Sheet1!$A$2:$A$3</c:f>
              <c:multiLvlStrCache>
                <c:ptCount val="2"/>
                <c:lvl>
                  <c:pt idx="0">
                    <c:v>Married</c:v>
                  </c:pt>
                  <c:pt idx="1">
                    <c:v>Single</c:v>
                  </c:pt>
                </c:lvl>
              </c:multiLvlStrCache>
            </c:multiLvlStrRef>
          </c:cat>
          <c:val>
            <c:numRef>
              <c:f>Sheet1!$B$2:$B$3</c:f>
              <c:numCache>
                <c:formatCode>General</c:formatCode>
                <c:ptCount val="2"/>
                <c:pt idx="0">
                  <c:v>28</c:v>
                </c:pt>
                <c:pt idx="1">
                  <c:v>23</c:v>
                </c:pt>
              </c:numCache>
            </c:numRef>
          </c:val>
        </c:ser>
        <c:dLbls>
          <c:numFmt formatCode="0.0&quot;M&quot;"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33.6"/>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4A5D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This deck summarises the Credit Card Transaction Report and Consumer Credit Card Report dashboards for the weekly internal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revenue 55.3M, transaction amount 44.5M across 656K transactions, interest earned 7.8M. Customer income is 576M and CSS is 3.19 as shown on the Consumer Credit Card Report. Three things to remember: Q4 dipped, Blue cards carry the business, and swipe is the main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was flat from Q1 to Q3 and only Q4 shows a meaningful drop (13.3M vs 14.2M in Q3). Transaction amount follows the same pattern, so the drop is volume-driven rather than a pricing or interest change. Worth checking seasonality and card-tier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by card tier: Blue 46.1M, Silver 5.6M, Gold 2.5M, Platinum 1.1M. Gold and Platinum together are only about 6% of revenue, so the premium tiers are a clear growth lever. Interest as a share of revenue: Platinum 14.2%, Gold 15.2%, Silver 14.5%, Blue 14.1%.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is led by Bills (13.8M), then Entertainment (9.5M) and Fuel (9.3M). Travel is the smallest category at 5.9M. By channel, swipe is 35M, chip 17M and online 3M, so digital is a small share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job: Businessman 17.4M, White-collar 10.1M, Selfemployed 8.3M, Govt 8.1M, Blue-collar 6.9M, Retirees 4.5M. Customer income follows the same order, with Businessman at 187M of the 576M total. By education: Graduate 22M, High School 11M, Unknown and Uneducated 8M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 groups 40-50 (25M) and 50-60 (19M) together are 44M of the 55M total. The 20-30 and 60+ groups are very small and not charted. High-income customers contribute 29M, about 53% of revenue. Gender split: male 30M, female 25M.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totals are the sum of the two gender bars on the dashboard: TX 12.9M, NY 12.7M, CA 12.6M, FL 9.7M. NJ is the fifth state on the dashboard but one of its values is not labelled, so it is left off this chart. Marital status: married 28M, single 23M.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agreeing owners for the Q4 investigation and the Gold/Platinum and online growth ideas. The suggested next steps are recommendations drawn from the dashboards, not figures from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details for questions, feedback or follow-up on this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852160" cy="137160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640080" y="2926080"/>
            <a:ext cx="5852160" cy="9144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chemeClr val="accent4"/>
                </a:solidFill>
              </a:rPr>
              <a:t>Credit Card Weekly Report</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2800" b="1" dirty="0">
                <a:solidFill>
                  <a:schemeClr val="bg1"/>
                </a:solidFill>
              </a:defRPr>
            </a:lvl1pPr>
          </a:lstStyle>
          <a:p>
            <a:pPr indent="0" marL="0">
              <a:buNone/>
            </a:pPr>
            <a:endParaRPr lang="en-US" sz="28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chemeClr val="accent6"/>
                </a:solidFill>
              </a:rPr>
              <a:t>Credit Card Weekly Report</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linkedin.com/in/pms90" TargetMode="External"/><Relationship Id="rId2" Type="http://schemas.openxmlformats.org/officeDocument/2006/relationships/hyperlink" Target="mailto:mehulprajapati200425@gmail.com" TargetMode="External"/><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ircle 1"/>
          <p:cNvSpPr/>
          <p:nvPr/>
        </p:nvSpPr>
        <p:spPr>
          <a:xfrm>
            <a:off x="6035040" y="457200"/>
            <a:ext cx="3108960" cy="3108960"/>
          </a:xfrm>
          <a:prstGeom prst="ellipse">
            <a:avLst/>
          </a:prstGeom>
          <a:solidFill>
            <a:srgbClr val="0E9F8E">
              <a:alpha val="40000"/>
            </a:srgbClr>
          </a:solidFill>
          <a:ln/>
        </p:spPr>
      </p:sp>
      <p:sp>
        <p:nvSpPr>
          <p:cNvPr id="3" name="Circle 2"/>
          <p:cNvSpPr/>
          <p:nvPr/>
        </p:nvSpPr>
        <p:spPr>
          <a:xfrm>
            <a:off x="6949440" y="2194560"/>
            <a:ext cx="2377440" cy="2377440"/>
          </a:xfrm>
          <a:prstGeom prst="ellipse">
            <a:avLst/>
          </a:prstGeom>
          <a:solidFill>
            <a:srgbClr val="6B8E3D">
              <a:alpha val="45000"/>
            </a:srgbClr>
          </a:solidFill>
          <a:ln/>
        </p:spPr>
      </p:sp>
      <p:sp>
        <p:nvSpPr>
          <p:cNvPr id="4" name="Circle 3"/>
          <p:cNvSpPr/>
          <p:nvPr/>
        </p:nvSpPr>
        <p:spPr>
          <a:xfrm>
            <a:off x="5669280" y="2926080"/>
            <a:ext cx="1645920" cy="1645920"/>
          </a:xfrm>
          <a:prstGeom prst="ellipse">
            <a:avLst/>
          </a:prstGeom>
          <a:solidFill>
            <a:srgbClr val="9CC9C0">
              <a:alpha val="30000"/>
            </a:srgbClr>
          </a:solidFill>
          <a:ln/>
        </p:spPr>
      </p:sp>
      <p:sp>
        <p:nvSpPr>
          <p:cNvPr id="5" name="Text 0"/>
          <p:cNvSpPr/>
          <p:nvPr>
            <p:ph idx="100" type="title" hasCustomPrompt="1"/>
          </p:nvPr>
        </p:nvSpPr>
        <p:spPr>
          <a:xfrm>
            <a:off x="640080" y="1371600"/>
            <a:ext cx="5852160" cy="1371600"/>
          </a:xfrm>
          <a:prstGeom prst="rect">
            <a:avLst/>
          </a:prstGeom>
          <a:noFill/>
          <a:ln/>
        </p:spPr>
        <p:txBody>
          <a:bodyPr wrap="square" lIns="0" tIns="0" rIns="0" bIns="0" rtlCol="0" anchor="b"/>
          <a:lstStyle/>
          <a:p>
            <a:pPr indent="0" marL="0">
              <a:buNone/>
            </a:pPr>
            <a:r>
              <a:rPr lang="en-US" sz="4000" b="1" dirty="0">
                <a:solidFill>
                  <a:schemeClr val="bg1"/>
                </a:solidFill>
              </a:rPr>
              <a:t>Credit Card Performance</a:t>
            </a:r>
            <a:endParaRPr lang="en-US" sz="4000" dirty="0"/>
          </a:p>
        </p:txBody>
      </p:sp>
      <p:sp>
        <p:nvSpPr>
          <p:cNvPr id="6" name="Text 0"/>
          <p:cNvSpPr/>
          <p:nvPr>
            <p:ph idx="101" type="body" hasCustomPrompt="1"/>
          </p:nvPr>
        </p:nvSpPr>
        <p:spPr>
          <a:xfrm>
            <a:off x="640080" y="2926080"/>
            <a:ext cx="5852160" cy="914400"/>
          </a:xfrm>
          <a:prstGeom prst="rect">
            <a:avLst/>
          </a:prstGeom>
          <a:noFill/>
          <a:ln/>
        </p:spPr>
        <p:txBody>
          <a:bodyPr wrap="square" lIns="0" tIns="0" rIns="0" bIns="0" rtlCol="0" anchor="t"/>
          <a:lstStyle/>
          <a:p>
            <a:pPr indent="0" marL="0">
              <a:buNone/>
            </a:pPr>
            <a:r>
              <a:rPr lang="en-US" sz="1800" dirty="0">
                <a:solidFill>
                  <a:schemeClr val="accent6"/>
                </a:solidFill>
              </a:rPr>
              <a:t>Weekly reporting deck  |  Data year 2023  |  Prepared 22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chemeClr val="tx2"/>
                </a:solidFill>
              </a:rPr>
              <a:t>Weekly performance at a glance</a:t>
            </a:r>
            <a:endParaRPr lang="en-US" sz="2800" dirty="0"/>
          </a:p>
        </p:txBody>
      </p:sp>
      <p:sp>
        <p:nvSpPr>
          <p:cNvPr id="3" name="KPI card 1"/>
          <p:cNvSpPr/>
          <p:nvPr/>
        </p:nvSpPr>
        <p:spPr>
          <a:xfrm>
            <a:off x="457200" y="1143000"/>
            <a:ext cx="1257300" cy="1234440"/>
          </a:xfrm>
          <a:prstGeom prst="roundRect">
            <a:avLst>
              <a:gd name="adj" fmla="val 8889"/>
            </a:avLst>
          </a:prstGeom>
          <a:solidFill>
            <a:schemeClr val="bg2"/>
          </a:solidFill>
          <a:ln/>
        </p:spPr>
      </p:sp>
      <p:sp>
        <p:nvSpPr>
          <p:cNvPr id="4" name="KPI value 1"/>
          <p:cNvSpPr txBox="1"/>
          <p:nvPr/>
        </p:nvSpPr>
        <p:spPr>
          <a:xfrm>
            <a:off x="457200" y="1280160"/>
            <a:ext cx="1257300" cy="54864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55.3M</a:t>
            </a:r>
            <a:endParaRPr lang="en-US" sz="2600" dirty="0"/>
          </a:p>
        </p:txBody>
      </p:sp>
      <p:sp>
        <p:nvSpPr>
          <p:cNvPr id="5" name="KPI label 1"/>
          <p:cNvSpPr txBox="1"/>
          <p:nvPr/>
        </p:nvSpPr>
        <p:spPr>
          <a:xfrm>
            <a:off x="457200" y="1828800"/>
            <a:ext cx="1257300" cy="365760"/>
          </a:xfrm>
          <a:prstGeom prst="rect">
            <a:avLst/>
          </a:prstGeom>
          <a:noFill/>
          <a:ln/>
        </p:spPr>
        <p:txBody>
          <a:bodyPr wrap="square" lIns="0" tIns="0" rIns="0" bIns="0" rtlCol="0" anchor="t"/>
          <a:lstStyle/>
          <a:p>
            <a:pPr algn="ctr" indent="0" marL="0">
              <a:buNone/>
            </a:pPr>
            <a:r>
              <a:rPr lang="en-US" sz="1200" dirty="0">
                <a:solidFill>
                  <a:schemeClr val="accent4"/>
                </a:solidFill>
              </a:rPr>
              <a:t>Revenue</a:t>
            </a:r>
            <a:endParaRPr lang="en-US" sz="1200" dirty="0"/>
          </a:p>
        </p:txBody>
      </p:sp>
      <p:sp>
        <p:nvSpPr>
          <p:cNvPr id="6" name="KPI card 2"/>
          <p:cNvSpPr/>
          <p:nvPr/>
        </p:nvSpPr>
        <p:spPr>
          <a:xfrm>
            <a:off x="1851660" y="1143000"/>
            <a:ext cx="1257300" cy="1234440"/>
          </a:xfrm>
          <a:prstGeom prst="roundRect">
            <a:avLst>
              <a:gd name="adj" fmla="val 8889"/>
            </a:avLst>
          </a:prstGeom>
          <a:solidFill>
            <a:schemeClr val="bg2"/>
          </a:solidFill>
          <a:ln/>
        </p:spPr>
      </p:sp>
      <p:sp>
        <p:nvSpPr>
          <p:cNvPr id="7" name="KPI value 2"/>
          <p:cNvSpPr txBox="1"/>
          <p:nvPr/>
        </p:nvSpPr>
        <p:spPr>
          <a:xfrm>
            <a:off x="1851660" y="1280160"/>
            <a:ext cx="1257300" cy="54864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44.5M</a:t>
            </a:r>
            <a:endParaRPr lang="en-US" sz="2600" dirty="0"/>
          </a:p>
        </p:txBody>
      </p:sp>
      <p:sp>
        <p:nvSpPr>
          <p:cNvPr id="8" name="KPI label 2"/>
          <p:cNvSpPr txBox="1"/>
          <p:nvPr/>
        </p:nvSpPr>
        <p:spPr>
          <a:xfrm>
            <a:off x="1851660" y="1828800"/>
            <a:ext cx="1257300" cy="365760"/>
          </a:xfrm>
          <a:prstGeom prst="rect">
            <a:avLst/>
          </a:prstGeom>
          <a:noFill/>
          <a:ln/>
        </p:spPr>
        <p:txBody>
          <a:bodyPr wrap="square" lIns="0" tIns="0" rIns="0" bIns="0" rtlCol="0" anchor="t"/>
          <a:lstStyle/>
          <a:p>
            <a:pPr algn="ctr" indent="0" marL="0">
              <a:buNone/>
            </a:pPr>
            <a:r>
              <a:rPr lang="en-US" sz="1200" dirty="0">
                <a:solidFill>
                  <a:schemeClr val="accent4"/>
                </a:solidFill>
              </a:rPr>
              <a:t>Transaction amount</a:t>
            </a:r>
            <a:endParaRPr lang="en-US" sz="1200" dirty="0"/>
          </a:p>
        </p:txBody>
      </p:sp>
      <p:sp>
        <p:nvSpPr>
          <p:cNvPr id="9" name="KPI card 3"/>
          <p:cNvSpPr/>
          <p:nvPr/>
        </p:nvSpPr>
        <p:spPr>
          <a:xfrm>
            <a:off x="3246120" y="1143000"/>
            <a:ext cx="1257300" cy="1234440"/>
          </a:xfrm>
          <a:prstGeom prst="roundRect">
            <a:avLst>
              <a:gd name="adj" fmla="val 8889"/>
            </a:avLst>
          </a:prstGeom>
          <a:solidFill>
            <a:schemeClr val="bg2"/>
          </a:solidFill>
          <a:ln/>
        </p:spPr>
      </p:sp>
      <p:sp>
        <p:nvSpPr>
          <p:cNvPr id="10" name="KPI value 3"/>
          <p:cNvSpPr txBox="1"/>
          <p:nvPr/>
        </p:nvSpPr>
        <p:spPr>
          <a:xfrm>
            <a:off x="3246120" y="1280160"/>
            <a:ext cx="1257300" cy="54864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656K</a:t>
            </a:r>
            <a:endParaRPr lang="en-US" sz="2600" dirty="0"/>
          </a:p>
        </p:txBody>
      </p:sp>
      <p:sp>
        <p:nvSpPr>
          <p:cNvPr id="11" name="KPI label 3"/>
          <p:cNvSpPr txBox="1"/>
          <p:nvPr/>
        </p:nvSpPr>
        <p:spPr>
          <a:xfrm>
            <a:off x="3246120" y="1828800"/>
            <a:ext cx="1257300" cy="365760"/>
          </a:xfrm>
          <a:prstGeom prst="rect">
            <a:avLst/>
          </a:prstGeom>
          <a:noFill/>
          <a:ln/>
        </p:spPr>
        <p:txBody>
          <a:bodyPr wrap="square" lIns="0" tIns="0" rIns="0" bIns="0" rtlCol="0" anchor="t"/>
          <a:lstStyle/>
          <a:p>
            <a:pPr algn="ctr" indent="0" marL="0">
              <a:buNone/>
            </a:pPr>
            <a:r>
              <a:rPr lang="en-US" sz="1200" dirty="0">
                <a:solidFill>
                  <a:schemeClr val="accent4"/>
                </a:solidFill>
              </a:rPr>
              <a:t>Transactions</a:t>
            </a:r>
            <a:endParaRPr lang="en-US" sz="1200" dirty="0"/>
          </a:p>
        </p:txBody>
      </p:sp>
      <p:sp>
        <p:nvSpPr>
          <p:cNvPr id="12" name="KPI card 4"/>
          <p:cNvSpPr/>
          <p:nvPr/>
        </p:nvSpPr>
        <p:spPr>
          <a:xfrm>
            <a:off x="4640580" y="1143000"/>
            <a:ext cx="1257300" cy="1234440"/>
          </a:xfrm>
          <a:prstGeom prst="roundRect">
            <a:avLst>
              <a:gd name="adj" fmla="val 8889"/>
            </a:avLst>
          </a:prstGeom>
          <a:solidFill>
            <a:schemeClr val="bg2"/>
          </a:solidFill>
          <a:ln/>
        </p:spPr>
      </p:sp>
      <p:sp>
        <p:nvSpPr>
          <p:cNvPr id="13" name="KPI value 4"/>
          <p:cNvSpPr txBox="1"/>
          <p:nvPr/>
        </p:nvSpPr>
        <p:spPr>
          <a:xfrm>
            <a:off x="4640580" y="1280160"/>
            <a:ext cx="1257300" cy="54864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7.8M</a:t>
            </a:r>
            <a:endParaRPr lang="en-US" sz="2600" dirty="0"/>
          </a:p>
        </p:txBody>
      </p:sp>
      <p:sp>
        <p:nvSpPr>
          <p:cNvPr id="14" name="KPI label 4"/>
          <p:cNvSpPr txBox="1"/>
          <p:nvPr/>
        </p:nvSpPr>
        <p:spPr>
          <a:xfrm>
            <a:off x="4640580" y="1828800"/>
            <a:ext cx="1257300" cy="365760"/>
          </a:xfrm>
          <a:prstGeom prst="rect">
            <a:avLst/>
          </a:prstGeom>
          <a:noFill/>
          <a:ln/>
        </p:spPr>
        <p:txBody>
          <a:bodyPr wrap="square" lIns="0" tIns="0" rIns="0" bIns="0" rtlCol="0" anchor="t"/>
          <a:lstStyle/>
          <a:p>
            <a:pPr algn="ctr" indent="0" marL="0">
              <a:buNone/>
            </a:pPr>
            <a:r>
              <a:rPr lang="en-US" sz="1200" dirty="0">
                <a:solidFill>
                  <a:schemeClr val="accent4"/>
                </a:solidFill>
              </a:rPr>
              <a:t>Interest earned</a:t>
            </a:r>
            <a:endParaRPr lang="en-US" sz="1200" dirty="0"/>
          </a:p>
        </p:txBody>
      </p:sp>
      <p:sp>
        <p:nvSpPr>
          <p:cNvPr id="15" name="KPI card 5"/>
          <p:cNvSpPr/>
          <p:nvPr/>
        </p:nvSpPr>
        <p:spPr>
          <a:xfrm>
            <a:off x="6035040" y="1143000"/>
            <a:ext cx="1257300" cy="1234440"/>
          </a:xfrm>
          <a:prstGeom prst="roundRect">
            <a:avLst>
              <a:gd name="adj" fmla="val 8889"/>
            </a:avLst>
          </a:prstGeom>
          <a:solidFill>
            <a:schemeClr val="bg2"/>
          </a:solidFill>
          <a:ln/>
        </p:spPr>
      </p:sp>
      <p:sp>
        <p:nvSpPr>
          <p:cNvPr id="16" name="KPI value 5"/>
          <p:cNvSpPr txBox="1"/>
          <p:nvPr/>
        </p:nvSpPr>
        <p:spPr>
          <a:xfrm>
            <a:off x="6035040" y="1280160"/>
            <a:ext cx="1257300" cy="54864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576M</a:t>
            </a:r>
            <a:endParaRPr lang="en-US" sz="2600" dirty="0"/>
          </a:p>
        </p:txBody>
      </p:sp>
      <p:sp>
        <p:nvSpPr>
          <p:cNvPr id="17" name="KPI label 5"/>
          <p:cNvSpPr txBox="1"/>
          <p:nvPr/>
        </p:nvSpPr>
        <p:spPr>
          <a:xfrm>
            <a:off x="6035040" y="1828800"/>
            <a:ext cx="1257300" cy="365760"/>
          </a:xfrm>
          <a:prstGeom prst="rect">
            <a:avLst/>
          </a:prstGeom>
          <a:noFill/>
          <a:ln/>
        </p:spPr>
        <p:txBody>
          <a:bodyPr wrap="square" lIns="0" tIns="0" rIns="0" bIns="0" rtlCol="0" anchor="t"/>
          <a:lstStyle/>
          <a:p>
            <a:pPr algn="ctr" indent="0" marL="0">
              <a:buNone/>
            </a:pPr>
            <a:r>
              <a:rPr lang="en-US" sz="1200" dirty="0">
                <a:solidFill>
                  <a:schemeClr val="accent4"/>
                </a:solidFill>
              </a:rPr>
              <a:t>Customer income</a:t>
            </a:r>
            <a:endParaRPr lang="en-US" sz="1200" dirty="0"/>
          </a:p>
        </p:txBody>
      </p:sp>
      <p:sp>
        <p:nvSpPr>
          <p:cNvPr id="18" name="KPI card 6"/>
          <p:cNvSpPr/>
          <p:nvPr/>
        </p:nvSpPr>
        <p:spPr>
          <a:xfrm>
            <a:off x="7429500" y="1143000"/>
            <a:ext cx="1257300" cy="1234440"/>
          </a:xfrm>
          <a:prstGeom prst="roundRect">
            <a:avLst>
              <a:gd name="adj" fmla="val 8889"/>
            </a:avLst>
          </a:prstGeom>
          <a:solidFill>
            <a:schemeClr val="bg2"/>
          </a:solidFill>
          <a:ln/>
        </p:spPr>
      </p:sp>
      <p:sp>
        <p:nvSpPr>
          <p:cNvPr id="19" name="KPI value 6"/>
          <p:cNvSpPr txBox="1"/>
          <p:nvPr/>
        </p:nvSpPr>
        <p:spPr>
          <a:xfrm>
            <a:off x="7429500" y="1280160"/>
            <a:ext cx="1257300" cy="54864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3.19</a:t>
            </a:r>
            <a:endParaRPr lang="en-US" sz="2600" dirty="0"/>
          </a:p>
        </p:txBody>
      </p:sp>
      <p:sp>
        <p:nvSpPr>
          <p:cNvPr id="20" name="KPI label 6"/>
          <p:cNvSpPr txBox="1"/>
          <p:nvPr/>
        </p:nvSpPr>
        <p:spPr>
          <a:xfrm>
            <a:off x="7429500" y="1828800"/>
            <a:ext cx="1257300" cy="365760"/>
          </a:xfrm>
          <a:prstGeom prst="rect">
            <a:avLst/>
          </a:prstGeom>
          <a:noFill/>
          <a:ln/>
        </p:spPr>
        <p:txBody>
          <a:bodyPr wrap="square" lIns="0" tIns="0" rIns="0" bIns="0" rtlCol="0" anchor="t"/>
          <a:lstStyle/>
          <a:p>
            <a:pPr algn="ctr" indent="0" marL="0">
              <a:buNone/>
            </a:pPr>
            <a:r>
              <a:rPr lang="en-US" sz="1200" dirty="0">
                <a:solidFill>
                  <a:schemeClr val="accent4"/>
                </a:solidFill>
              </a:rPr>
              <a:t>CSS score</a:t>
            </a:r>
            <a:endParaRPr lang="en-US" sz="1200" dirty="0"/>
          </a:p>
        </p:txBody>
      </p:sp>
      <p:sp>
        <p:nvSpPr>
          <p:cNvPr id="21" name="Takeaway card 1"/>
          <p:cNvSpPr/>
          <p:nvPr/>
        </p:nvSpPr>
        <p:spPr>
          <a:xfrm>
            <a:off x="457200" y="2743200"/>
            <a:ext cx="2560320" cy="1783080"/>
          </a:xfrm>
          <a:prstGeom prst="roundRect">
            <a:avLst>
              <a:gd name="adj" fmla="val 6154"/>
            </a:avLst>
          </a:prstGeom>
          <a:solidFill>
            <a:schemeClr val="bg1"/>
          </a:solidFill>
          <a:ln/>
        </p:spPr>
      </p:sp>
      <p:sp>
        <p:nvSpPr>
          <p:cNvPr id="22" name="Takeaway outline 1"/>
          <p:cNvSpPr/>
          <p:nvPr/>
        </p:nvSpPr>
        <p:spPr>
          <a:xfrm>
            <a:off x="457200" y="2743200"/>
            <a:ext cx="2560320" cy="1783080"/>
          </a:xfrm>
          <a:prstGeom prst="roundRect">
            <a:avLst>
              <a:gd name="adj" fmla="val 6154"/>
            </a:avLst>
          </a:prstGeom>
          <a:ln w="15875">
            <a:solidFill>
              <a:srgbClr val="9CC9C0"/>
            </a:solidFill>
            <a:prstDash val="solid"/>
          </a:ln>
        </p:spPr>
      </p:sp>
      <p:sp>
        <p:nvSpPr>
          <p:cNvPr id="23" name="Takeaway heading 1"/>
          <p:cNvSpPr txBox="1"/>
          <p:nvPr/>
        </p:nvSpPr>
        <p:spPr>
          <a:xfrm>
            <a:off x="640080" y="2880360"/>
            <a:ext cx="2194560"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Q4 softened</a:t>
            </a:r>
            <a:endParaRPr lang="en-US" sz="1600" dirty="0"/>
          </a:p>
        </p:txBody>
      </p:sp>
      <p:sp>
        <p:nvSpPr>
          <p:cNvPr id="24" name="Takeaway body 1"/>
          <p:cNvSpPr txBox="1"/>
          <p:nvPr/>
        </p:nvSpPr>
        <p:spPr>
          <a:xfrm>
            <a:off x="640080" y="3291840"/>
            <a:ext cx="2194560" cy="1143000"/>
          </a:xfrm>
          <a:prstGeom prst="rect">
            <a:avLst/>
          </a:prstGeom>
          <a:noFill/>
          <a:ln/>
        </p:spPr>
        <p:txBody>
          <a:bodyPr wrap="square" lIns="0" tIns="0" rIns="0" bIns="0" rtlCol="0" anchor="t"/>
          <a:lstStyle/>
          <a:p>
            <a:pPr indent="0" marL="0">
              <a:buNone/>
            </a:pPr>
            <a:r>
              <a:rPr lang="en-US" sz="1400" dirty="0">
                <a:solidFill>
                  <a:schemeClr val="tx1"/>
                </a:solidFill>
              </a:rPr>
              <a:t>Revenue fell to 13.3M from 14.2M in Q3 (down 6%). Transaction amount dropped 7% to 10.69M.</a:t>
            </a:r>
            <a:endParaRPr lang="en-US" sz="1400" dirty="0"/>
          </a:p>
        </p:txBody>
      </p:sp>
      <p:sp>
        <p:nvSpPr>
          <p:cNvPr id="25" name="Takeaway card 2"/>
          <p:cNvSpPr/>
          <p:nvPr/>
        </p:nvSpPr>
        <p:spPr>
          <a:xfrm>
            <a:off x="3291840" y="2743200"/>
            <a:ext cx="2560320" cy="1783080"/>
          </a:xfrm>
          <a:prstGeom prst="roundRect">
            <a:avLst>
              <a:gd name="adj" fmla="val 6154"/>
            </a:avLst>
          </a:prstGeom>
          <a:solidFill>
            <a:schemeClr val="bg1"/>
          </a:solidFill>
          <a:ln/>
        </p:spPr>
      </p:sp>
      <p:sp>
        <p:nvSpPr>
          <p:cNvPr id="26" name="Takeaway outline 2"/>
          <p:cNvSpPr/>
          <p:nvPr/>
        </p:nvSpPr>
        <p:spPr>
          <a:xfrm>
            <a:off x="3291840" y="2743200"/>
            <a:ext cx="2560320" cy="1783080"/>
          </a:xfrm>
          <a:prstGeom prst="roundRect">
            <a:avLst>
              <a:gd name="adj" fmla="val 6154"/>
            </a:avLst>
          </a:prstGeom>
          <a:ln w="15875">
            <a:solidFill>
              <a:srgbClr val="9CC9C0"/>
            </a:solidFill>
            <a:prstDash val="solid"/>
          </a:ln>
        </p:spPr>
      </p:sp>
      <p:sp>
        <p:nvSpPr>
          <p:cNvPr id="27" name="Takeaway heading 2"/>
          <p:cNvSpPr txBox="1"/>
          <p:nvPr/>
        </p:nvSpPr>
        <p:spPr>
          <a:xfrm>
            <a:off x="3474720" y="2880360"/>
            <a:ext cx="2194560"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Blue cards dominate</a:t>
            </a:r>
            <a:endParaRPr lang="en-US" sz="1600" dirty="0"/>
          </a:p>
        </p:txBody>
      </p:sp>
      <p:sp>
        <p:nvSpPr>
          <p:cNvPr id="28" name="Takeaway body 2"/>
          <p:cNvSpPr txBox="1"/>
          <p:nvPr/>
        </p:nvSpPr>
        <p:spPr>
          <a:xfrm>
            <a:off x="3474720" y="3291840"/>
            <a:ext cx="2194560" cy="1143000"/>
          </a:xfrm>
          <a:prstGeom prst="rect">
            <a:avLst/>
          </a:prstGeom>
          <a:noFill/>
          <a:ln/>
        </p:spPr>
        <p:txBody>
          <a:bodyPr wrap="square" lIns="0" tIns="0" rIns="0" bIns="0" rtlCol="0" anchor="t"/>
          <a:lstStyle/>
          <a:p>
            <a:pPr indent="0" marL="0">
              <a:buNone/>
            </a:pPr>
            <a:r>
              <a:rPr lang="en-US" sz="1400" dirty="0">
                <a:solidFill>
                  <a:schemeClr val="tx1"/>
                </a:solidFill>
              </a:rPr>
              <a:t>Blue generates 46.1M of the 55.3M total (83%). Platinum adds only 1.1M (2%).</a:t>
            </a:r>
            <a:endParaRPr lang="en-US" sz="1400" dirty="0"/>
          </a:p>
        </p:txBody>
      </p:sp>
      <p:sp>
        <p:nvSpPr>
          <p:cNvPr id="29" name="Takeaway card 3"/>
          <p:cNvSpPr/>
          <p:nvPr/>
        </p:nvSpPr>
        <p:spPr>
          <a:xfrm>
            <a:off x="6126480" y="2743200"/>
            <a:ext cx="2560320" cy="1783080"/>
          </a:xfrm>
          <a:prstGeom prst="roundRect">
            <a:avLst>
              <a:gd name="adj" fmla="val 6154"/>
            </a:avLst>
          </a:prstGeom>
          <a:solidFill>
            <a:schemeClr val="bg1"/>
          </a:solidFill>
          <a:ln/>
        </p:spPr>
      </p:sp>
      <p:sp>
        <p:nvSpPr>
          <p:cNvPr id="30" name="Takeaway outline 3"/>
          <p:cNvSpPr/>
          <p:nvPr/>
        </p:nvSpPr>
        <p:spPr>
          <a:xfrm>
            <a:off x="6126480" y="2743200"/>
            <a:ext cx="2560320" cy="1783080"/>
          </a:xfrm>
          <a:prstGeom prst="roundRect">
            <a:avLst>
              <a:gd name="adj" fmla="val 6154"/>
            </a:avLst>
          </a:prstGeom>
          <a:ln w="15875">
            <a:solidFill>
              <a:srgbClr val="9CC9C0"/>
            </a:solidFill>
            <a:prstDash val="solid"/>
          </a:ln>
        </p:spPr>
      </p:sp>
      <p:sp>
        <p:nvSpPr>
          <p:cNvPr id="31" name="Takeaway heading 3"/>
          <p:cNvSpPr txBox="1"/>
          <p:nvPr/>
        </p:nvSpPr>
        <p:spPr>
          <a:xfrm>
            <a:off x="6309360" y="2880360"/>
            <a:ext cx="2194560"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Swipe leads channels</a:t>
            </a:r>
            <a:endParaRPr lang="en-US" sz="1600" dirty="0"/>
          </a:p>
        </p:txBody>
      </p:sp>
      <p:sp>
        <p:nvSpPr>
          <p:cNvPr id="32" name="Takeaway body 3"/>
          <p:cNvSpPr txBox="1"/>
          <p:nvPr/>
        </p:nvSpPr>
        <p:spPr>
          <a:xfrm>
            <a:off x="6309360" y="3291840"/>
            <a:ext cx="2194560" cy="1143000"/>
          </a:xfrm>
          <a:prstGeom prst="rect">
            <a:avLst/>
          </a:prstGeom>
          <a:noFill/>
          <a:ln/>
        </p:spPr>
        <p:txBody>
          <a:bodyPr wrap="square" lIns="0" tIns="0" rIns="0" bIns="0" rtlCol="0" anchor="t"/>
          <a:lstStyle/>
          <a:p>
            <a:pPr indent="0" marL="0">
              <a:buNone/>
            </a:pPr>
            <a:r>
              <a:rPr lang="en-US" sz="1400" dirty="0">
                <a:solidFill>
                  <a:schemeClr val="tx1"/>
                </a:solidFill>
              </a:rPr>
              <a:t>Swipe carries 64% of revenue and chip 31%. Online is just 3M (5%).</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chemeClr val="tx2"/>
                </a:solidFill>
              </a:rPr>
              <a:t>Revenue slipped 6% in Q4</a:t>
            </a:r>
            <a:endParaRPr lang="en-US" sz="2800" dirty="0"/>
          </a:p>
        </p:txBody>
      </p:sp>
      <p:sp>
        <p:nvSpPr>
          <p:cNvPr id="3" name="Chart card"/>
          <p:cNvSpPr/>
          <p:nvPr/>
        </p:nvSpPr>
        <p:spPr>
          <a:xfrm>
            <a:off x="457200" y="1143000"/>
            <a:ext cx="5212080" cy="3383280"/>
          </a:xfrm>
          <a:prstGeom prst="roundRect">
            <a:avLst>
              <a:gd name="adj" fmla="val 3243"/>
            </a:avLst>
          </a:prstGeom>
          <a:solidFill>
            <a:schemeClr val="bg2"/>
          </a:solidFill>
          <a:ln/>
        </p:spPr>
      </p:sp>
      <p:graphicFrame>
        <p:nvGraphicFramePr>
          <p:cNvPr id="4" name="Quarterly chart" descr=""/>
          <p:cNvGraphicFramePr/>
          <p:nvPr/>
        </p:nvGraphicFramePr>
        <p:xfrm>
          <a:off x="594360" y="123444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5" name="Stat card Q3"/>
          <p:cNvSpPr/>
          <p:nvPr/>
        </p:nvSpPr>
        <p:spPr>
          <a:xfrm>
            <a:off x="5943600" y="1143000"/>
            <a:ext cx="2743200" cy="1600200"/>
          </a:xfrm>
          <a:prstGeom prst="roundRect">
            <a:avLst>
              <a:gd name="adj" fmla="val 6857"/>
            </a:avLst>
          </a:prstGeom>
          <a:solidFill>
            <a:schemeClr val="bg2"/>
          </a:solidFill>
          <a:ln/>
        </p:spPr>
      </p:sp>
      <p:sp>
        <p:nvSpPr>
          <p:cNvPr id="6" name="Q3 stat"/>
          <p:cNvSpPr txBox="1"/>
          <p:nvPr/>
        </p:nvSpPr>
        <p:spPr>
          <a:xfrm>
            <a:off x="6126480" y="1234440"/>
            <a:ext cx="237744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14.2M</a:t>
            </a:r>
            <a:endParaRPr lang="en-US" sz="3200" dirty="0"/>
          </a:p>
        </p:txBody>
      </p:sp>
      <p:sp>
        <p:nvSpPr>
          <p:cNvPr id="7" name="Q3 label"/>
          <p:cNvSpPr txBox="1"/>
          <p:nvPr/>
        </p:nvSpPr>
        <p:spPr>
          <a:xfrm>
            <a:off x="6126480" y="1783080"/>
            <a:ext cx="2377440" cy="274320"/>
          </a:xfrm>
          <a:prstGeom prst="rect">
            <a:avLst/>
          </a:prstGeom>
          <a:noFill/>
          <a:ln/>
        </p:spPr>
        <p:txBody>
          <a:bodyPr wrap="square" lIns="0" tIns="0" rIns="0" bIns="0" rtlCol="0" anchor="ctr"/>
          <a:lstStyle/>
          <a:p>
            <a:pPr indent="0" marL="0">
              <a:buNone/>
            </a:pPr>
            <a:r>
              <a:rPr lang="en-US" sz="1400" b="1" dirty="0">
                <a:solidFill>
                  <a:schemeClr val="tx2"/>
                </a:solidFill>
              </a:rPr>
              <a:t>Q3 peak revenue</a:t>
            </a:r>
            <a:endParaRPr lang="en-US" sz="1400" dirty="0"/>
          </a:p>
        </p:txBody>
      </p:sp>
      <p:sp>
        <p:nvSpPr>
          <p:cNvPr id="8" name="Q3 note"/>
          <p:cNvSpPr txBox="1"/>
          <p:nvPr/>
        </p:nvSpPr>
        <p:spPr>
          <a:xfrm>
            <a:off x="6126480" y="2103120"/>
            <a:ext cx="2377440" cy="548640"/>
          </a:xfrm>
          <a:prstGeom prst="rect">
            <a:avLst/>
          </a:prstGeom>
          <a:noFill/>
          <a:ln/>
        </p:spPr>
        <p:txBody>
          <a:bodyPr wrap="square" lIns="0" tIns="0" rIns="0" bIns="0" rtlCol="0" anchor="t"/>
          <a:lstStyle/>
          <a:p>
            <a:pPr indent="0" marL="0">
              <a:buNone/>
            </a:pPr>
            <a:r>
              <a:rPr lang="en-US" sz="1200" dirty="0">
                <a:solidFill>
                  <a:schemeClr val="accent4"/>
                </a:solidFill>
              </a:rPr>
              <a:t>Q1 to Q3 held steady between 13.8M and 14.2M.</a:t>
            </a:r>
            <a:endParaRPr lang="en-US" sz="1200" dirty="0"/>
          </a:p>
        </p:txBody>
      </p:sp>
      <p:sp>
        <p:nvSpPr>
          <p:cNvPr id="9" name="Stat card Q4"/>
          <p:cNvSpPr/>
          <p:nvPr/>
        </p:nvSpPr>
        <p:spPr>
          <a:xfrm>
            <a:off x="5943600" y="2926080"/>
            <a:ext cx="2743200" cy="1600200"/>
          </a:xfrm>
          <a:prstGeom prst="roundRect">
            <a:avLst>
              <a:gd name="adj" fmla="val 6857"/>
            </a:avLst>
          </a:prstGeom>
          <a:solidFill>
            <a:schemeClr val="bg2"/>
          </a:solidFill>
          <a:ln/>
        </p:spPr>
      </p:sp>
      <p:sp>
        <p:nvSpPr>
          <p:cNvPr id="10" name="Q4 stat"/>
          <p:cNvSpPr txBox="1"/>
          <p:nvPr/>
        </p:nvSpPr>
        <p:spPr>
          <a:xfrm>
            <a:off x="6126480" y="3017520"/>
            <a:ext cx="2377440" cy="548640"/>
          </a:xfrm>
          <a:prstGeom prst="rect">
            <a:avLst/>
          </a:prstGeom>
          <a:noFill/>
          <a:ln/>
        </p:spPr>
        <p:txBody>
          <a:bodyPr wrap="square" lIns="0" tIns="0" rIns="0" bIns="0" rtlCol="0" anchor="ctr"/>
          <a:lstStyle/>
          <a:p>
            <a:pPr indent="0" marL="0">
              <a:buNone/>
            </a:pPr>
            <a:r>
              <a:rPr lang="en-US" sz="3200" b="1" dirty="0">
                <a:solidFill>
                  <a:schemeClr val="accent5"/>
                </a:solidFill>
                <a:latin typeface="Cambria" pitchFamily="34" charset="0"/>
                <a:ea typeface="Cambria" pitchFamily="34" charset="-122"/>
                <a:cs typeface="Cambria" pitchFamily="34" charset="-120"/>
              </a:rPr>
              <a:t>-6.3%</a:t>
            </a:r>
            <a:endParaRPr lang="en-US" sz="3200" dirty="0"/>
          </a:p>
        </p:txBody>
      </p:sp>
      <p:sp>
        <p:nvSpPr>
          <p:cNvPr id="11" name="Q4 label"/>
          <p:cNvSpPr txBox="1"/>
          <p:nvPr/>
        </p:nvSpPr>
        <p:spPr>
          <a:xfrm>
            <a:off x="6126480" y="3566160"/>
            <a:ext cx="2377440" cy="274320"/>
          </a:xfrm>
          <a:prstGeom prst="rect">
            <a:avLst/>
          </a:prstGeom>
          <a:noFill/>
          <a:ln/>
        </p:spPr>
        <p:txBody>
          <a:bodyPr wrap="square" lIns="0" tIns="0" rIns="0" bIns="0" rtlCol="0" anchor="ctr"/>
          <a:lstStyle/>
          <a:p>
            <a:pPr indent="0" marL="0">
              <a:buNone/>
            </a:pPr>
            <a:r>
              <a:rPr lang="en-US" sz="1400" b="1" dirty="0">
                <a:solidFill>
                  <a:schemeClr val="tx2"/>
                </a:solidFill>
              </a:rPr>
              <a:t>Q4 revenue vs Q3</a:t>
            </a:r>
            <a:endParaRPr lang="en-US" sz="1400" dirty="0"/>
          </a:p>
        </p:txBody>
      </p:sp>
      <p:sp>
        <p:nvSpPr>
          <p:cNvPr id="12" name="Q4 note"/>
          <p:cNvSpPr txBox="1"/>
          <p:nvPr/>
        </p:nvSpPr>
        <p:spPr>
          <a:xfrm>
            <a:off x="6126480" y="3886200"/>
            <a:ext cx="2377440" cy="548640"/>
          </a:xfrm>
          <a:prstGeom prst="rect">
            <a:avLst/>
          </a:prstGeom>
          <a:noFill/>
          <a:ln/>
        </p:spPr>
        <p:txBody>
          <a:bodyPr wrap="square" lIns="0" tIns="0" rIns="0" bIns="0" rtlCol="0" anchor="t"/>
          <a:lstStyle/>
          <a:p>
            <a:pPr indent="0" marL="0">
              <a:buNone/>
            </a:pPr>
            <a:r>
              <a:rPr lang="en-US" sz="1200" dirty="0">
                <a:solidFill>
                  <a:schemeClr val="accent4"/>
                </a:solidFill>
              </a:rPr>
              <a:t>13.3M vs 14.2M. Transaction amount fell 6.6% to 10.69M.</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chemeClr val="tx2"/>
                </a:solidFill>
              </a:rPr>
              <a:t>Blue cards drive 83% of revenue</a:t>
            </a:r>
            <a:endParaRPr lang="en-US" sz="2800" dirty="0"/>
          </a:p>
        </p:txBody>
      </p:sp>
      <p:graphicFrame>
        <p:nvGraphicFramePr>
          <p:cNvPr id="5" name="Card category table"/>
          <p:cNvGraphicFramePr>
            <a:graphicFrameLocks noGrp="1"/>
          </p:cNvGraphicFramePr>
          <p:nvPr>
            <p:extLst>
              <p:ext uri="{D42A27DB-BD31-4B8C-83A1-F6EECF244321}">
                <p14:modId xmlns:p14="http://schemas.microsoft.com/office/powerpoint/2010/main" val="1579011935"/>
              </p:ext>
            </p:extLst>
          </p:nvPr>
        </p:nvGraphicFramePr>
        <p:xfrm>
          <a:off x="457200" y="1188720"/>
          <a:ext cx="5303520" cy="914400"/>
        </p:xfrm>
        <a:graphic>
          <a:graphicData uri="http://schemas.openxmlformats.org/drawingml/2006/table">
            <a:tbl>
              <a:tblPr/>
              <a:tblGrid>
                <a:gridCol w="1188720"/>
                <a:gridCol w="1371600"/>
                <a:gridCol w="1463040"/>
                <a:gridCol w="1280160"/>
              </a:tblGrid>
              <a:tr h="457200">
                <a:tc>
                  <a:txBody>
                    <a:bodyPr/>
                    <a:lstStyle/>
                    <a:p>
                      <a:pPr algn="l" indent="0" marL="0">
                        <a:buNone/>
                      </a:pPr>
                      <a:r>
                        <a:rPr lang="en-US" sz="1200" b="1" dirty="0">
                          <a:solidFill>
                            <a:schemeClr val="bg1"/>
                          </a:solidFill>
                        </a:rPr>
                        <a:t>Card</a:t>
                      </a:r>
                      <a:endParaRPr lang="en-US" sz="12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Revenue</a:t>
                      </a:r>
                      <a:endParaRPr lang="en-US" sz="12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Trans. amount</a:t>
                      </a:r>
                      <a:endParaRPr lang="en-US" sz="12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Interest</a:t>
                      </a:r>
                      <a:endParaRPr lang="en-US" sz="12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solidFill>
                      <a:schemeClr val="tx2"/>
                    </a:solidFill>
                  </a:tcPr>
                </a:tc>
              </a:tr>
              <a:tr h="457200">
                <a:tc>
                  <a:txBody>
                    <a:bodyPr/>
                    <a:lstStyle/>
                    <a:p>
                      <a:pPr algn="l" indent="0" marL="0">
                        <a:buNone/>
                      </a:pPr>
                      <a:r>
                        <a:rPr lang="en-US" sz="1400" dirty="0">
                          <a:solidFill>
                            <a:schemeClr val="tx1"/>
                          </a:solidFill>
                        </a:rPr>
                        <a:t>Platinum</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c>
                  <a:txBody>
                    <a:bodyPr/>
                    <a:lstStyle/>
                    <a:p>
                      <a:pPr algn="r" indent="0" marL="0">
                        <a:buNone/>
                      </a:pPr>
                      <a:r>
                        <a:rPr lang="en-US" sz="1400" dirty="0">
                          <a:solidFill>
                            <a:schemeClr val="tx1"/>
                          </a:solidFill>
                        </a:rPr>
                        <a:t>1,135,608</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c>
                  <a:txBody>
                    <a:bodyPr/>
                    <a:lstStyle/>
                    <a:p>
                      <a:pPr algn="r" indent="0" marL="0">
                        <a:buNone/>
                      </a:pPr>
                      <a:r>
                        <a:rPr lang="en-US" sz="1400" dirty="0">
                          <a:solidFill>
                            <a:schemeClr val="tx1"/>
                          </a:solidFill>
                        </a:rPr>
                        <a:t>953,314</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c>
                  <a:txBody>
                    <a:bodyPr/>
                    <a:lstStyle/>
                    <a:p>
                      <a:pPr algn="r" indent="0" marL="0">
                        <a:buNone/>
                      </a:pPr>
                      <a:r>
                        <a:rPr lang="en-US" sz="1400" dirty="0">
                          <a:solidFill>
                            <a:schemeClr val="tx1"/>
                          </a:solidFill>
                        </a:rPr>
                        <a:t>161,629</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r>
              <a:tr h="457200">
                <a:tc>
                  <a:txBody>
                    <a:bodyPr/>
                    <a:lstStyle/>
                    <a:p>
                      <a:pPr algn="l" indent="0" marL="0">
                        <a:buNone/>
                      </a:pPr>
                      <a:r>
                        <a:rPr lang="en-US" sz="1400" dirty="0">
                          <a:solidFill>
                            <a:schemeClr val="tx1"/>
                          </a:solidFill>
                        </a:rPr>
                        <a:t>Gold</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c>
                  <a:txBody>
                    <a:bodyPr/>
                    <a:lstStyle/>
                    <a:p>
                      <a:pPr algn="r" indent="0" marL="0">
                        <a:buNone/>
                      </a:pPr>
                      <a:r>
                        <a:rPr lang="en-US" sz="1400" dirty="0">
                          <a:solidFill>
                            <a:schemeClr val="tx1"/>
                          </a:solidFill>
                        </a:rPr>
                        <a:t>2,454,072</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c>
                  <a:txBody>
                    <a:bodyPr/>
                    <a:lstStyle/>
                    <a:p>
                      <a:pPr algn="r" indent="0" marL="0">
                        <a:buNone/>
                      </a:pPr>
                      <a:r>
                        <a:rPr lang="en-US" sz="1400" dirty="0">
                          <a:solidFill>
                            <a:schemeClr val="tx1"/>
                          </a:solidFill>
                        </a:rPr>
                        <a:t>2,024,078</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c>
                  <a:txBody>
                    <a:bodyPr/>
                    <a:lstStyle/>
                    <a:p>
                      <a:pPr algn="r" indent="0" marL="0">
                        <a:buNone/>
                      </a:pPr>
                      <a:r>
                        <a:rPr lang="en-US" sz="1400" dirty="0">
                          <a:solidFill>
                            <a:schemeClr val="tx1"/>
                          </a:solidFill>
                        </a:rPr>
                        <a:t>373,784</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r>
              <a:tr h="457200">
                <a:tc>
                  <a:txBody>
                    <a:bodyPr/>
                    <a:lstStyle/>
                    <a:p>
                      <a:pPr algn="l" indent="0" marL="0">
                        <a:buNone/>
                      </a:pPr>
                      <a:r>
                        <a:rPr lang="en-US" sz="1400" dirty="0">
                          <a:solidFill>
                            <a:schemeClr val="tx1"/>
                          </a:solidFill>
                        </a:rPr>
                        <a:t>Silver</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c>
                  <a:txBody>
                    <a:bodyPr/>
                    <a:lstStyle/>
                    <a:p>
                      <a:pPr algn="r" indent="0" marL="0">
                        <a:buNone/>
                      </a:pPr>
                      <a:r>
                        <a:rPr lang="en-US" sz="1400" dirty="0">
                          <a:solidFill>
                            <a:schemeClr val="tx1"/>
                          </a:solidFill>
                        </a:rPr>
                        <a:t>5,586,332</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c>
                  <a:txBody>
                    <a:bodyPr/>
                    <a:lstStyle/>
                    <a:p>
                      <a:pPr algn="r" indent="0" marL="0">
                        <a:buNone/>
                      </a:pPr>
                      <a:r>
                        <a:rPr lang="en-US" sz="1400" dirty="0">
                          <a:solidFill>
                            <a:schemeClr val="tx1"/>
                          </a:solidFill>
                        </a:rPr>
                        <a:t>4,586,746</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c>
                  <a:txBody>
                    <a:bodyPr/>
                    <a:lstStyle/>
                    <a:p>
                      <a:pPr algn="r" indent="0" marL="0">
                        <a:buNone/>
                      </a:pPr>
                      <a:r>
                        <a:rPr lang="en-US" sz="1400" dirty="0">
                          <a:solidFill>
                            <a:schemeClr val="tx1"/>
                          </a:solidFill>
                        </a:rPr>
                        <a:t>812,081</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r>
              <a:tr h="457200">
                <a:tc>
                  <a:txBody>
                    <a:bodyPr/>
                    <a:lstStyle/>
                    <a:p>
                      <a:pPr algn="l" indent="0" marL="0">
                        <a:buNone/>
                      </a:pPr>
                      <a:r>
                        <a:rPr lang="en-US" sz="1400" dirty="0">
                          <a:solidFill>
                            <a:schemeClr val="tx1"/>
                          </a:solidFill>
                        </a:rPr>
                        <a:t>Blue</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c>
                  <a:txBody>
                    <a:bodyPr/>
                    <a:lstStyle/>
                    <a:p>
                      <a:pPr algn="r" indent="0" marL="0">
                        <a:buNone/>
                      </a:pPr>
                      <a:r>
                        <a:rPr lang="en-US" sz="1400" dirty="0">
                          <a:solidFill>
                            <a:schemeClr val="tx1"/>
                          </a:solidFill>
                        </a:rPr>
                        <a:t>46,139,398</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c>
                  <a:txBody>
                    <a:bodyPr/>
                    <a:lstStyle/>
                    <a:p>
                      <a:pPr algn="r" indent="0" marL="0">
                        <a:buNone/>
                      </a:pPr>
                      <a:r>
                        <a:rPr lang="en-US" sz="1400" dirty="0">
                          <a:solidFill>
                            <a:schemeClr val="tx1"/>
                          </a:solidFill>
                        </a:rPr>
                        <a:t>36,957,875</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c>
                  <a:txBody>
                    <a:bodyPr/>
                    <a:lstStyle/>
                    <a:p>
                      <a:pPr algn="r" indent="0" marL="0">
                        <a:buNone/>
                      </a:pPr>
                      <a:r>
                        <a:rPr lang="en-US" sz="1400" dirty="0">
                          <a:solidFill>
                            <a:schemeClr val="tx1"/>
                          </a:solidFill>
                        </a:rPr>
                        <a:t>6,495,888</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tcPr>
                </a:tc>
              </a:tr>
              <a:tr h="457200">
                <a:tc>
                  <a:txBody>
                    <a:bodyPr/>
                    <a:lstStyle/>
                    <a:p>
                      <a:pPr algn="l" indent="0" marL="0">
                        <a:buNone/>
                      </a:pPr>
                      <a:r>
                        <a:rPr lang="en-US" sz="1400" b="1" dirty="0">
                          <a:solidFill>
                            <a:schemeClr val="tx1"/>
                          </a:solidFill>
                        </a:rPr>
                        <a:t>Total</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55,315,410</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44,522,013</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7,843,382</a:t>
                      </a:r>
                      <a:endParaRPr lang="en-US" sz="1400" dirty="0"/>
                    </a:p>
                  </a:txBody>
                  <a:tcPr marL="91440" marR="91440" marT="0" marB="0" anchor="ctr">
                    <a:lnL w="6350" cap="flat" cmpd="sng" algn="ctr">
                      <a:solidFill>
                        <a:srgbClr val="D5E0DE"/>
                      </a:solidFill>
                      <a:prstDash val="solid"/>
                      <a:round/>
                      <a:headEnd type="none" w="med" len="med"/>
                      <a:tailEnd type="none" w="med" len="med"/>
                    </a:lnL>
                    <a:lnR w="6350" cap="flat" cmpd="sng" algn="ctr">
                      <a:solidFill>
                        <a:srgbClr val="D5E0DE"/>
                      </a:solidFill>
                      <a:prstDash val="solid"/>
                      <a:round/>
                      <a:headEnd type="none" w="med" len="med"/>
                      <a:tailEnd type="none" w="med" len="med"/>
                    </a:lnR>
                    <a:lnT w="6350" cap="flat" cmpd="sng" algn="ctr">
                      <a:solidFill>
                        <a:srgbClr val="D5E0DE"/>
                      </a:solidFill>
                      <a:prstDash val="solid"/>
                      <a:round/>
                      <a:headEnd type="none" w="med" len="med"/>
                      <a:tailEnd type="none" w="med" len="med"/>
                    </a:lnT>
                    <a:lnB w="6350" cap="flat" cmpd="sng" algn="ctr">
                      <a:solidFill>
                        <a:srgbClr val="D5E0DE"/>
                      </a:solidFill>
                      <a:prstDash val="solid"/>
                      <a:round/>
                      <a:headEnd type="none" w="med" len="med"/>
                      <a:tailEnd type="none" w="med" len="med"/>
                    </a:lnB>
                    <a:solidFill>
                      <a:schemeClr val="bg2"/>
                    </a:solidFill>
                  </a:tcPr>
                </a:tc>
              </a:tr>
            </a:tbl>
          </a:graphicData>
        </a:graphic>
      </p:graphicFrame>
      <p:sp>
        <p:nvSpPr>
          <p:cNvPr id="4" name="Stat card Blue share"/>
          <p:cNvSpPr/>
          <p:nvPr/>
        </p:nvSpPr>
        <p:spPr>
          <a:xfrm>
            <a:off x="6035040" y="1188720"/>
            <a:ext cx="2651760" cy="1554480"/>
          </a:xfrm>
          <a:prstGeom prst="roundRect">
            <a:avLst>
              <a:gd name="adj" fmla="val 7059"/>
            </a:avLst>
          </a:prstGeom>
          <a:solidFill>
            <a:schemeClr val="bg2"/>
          </a:solidFill>
          <a:ln/>
        </p:spPr>
      </p:sp>
      <p:sp>
        <p:nvSpPr>
          <p:cNvPr id="5" name="Blue share stat"/>
          <p:cNvSpPr txBox="1"/>
          <p:nvPr/>
        </p:nvSpPr>
        <p:spPr>
          <a:xfrm>
            <a:off x="6217920" y="1280160"/>
            <a:ext cx="2286000" cy="5943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83%</a:t>
            </a:r>
            <a:endParaRPr lang="en-US" sz="3600" dirty="0"/>
          </a:p>
        </p:txBody>
      </p:sp>
      <p:sp>
        <p:nvSpPr>
          <p:cNvPr id="6" name="Blue share label"/>
          <p:cNvSpPr txBox="1"/>
          <p:nvPr/>
        </p:nvSpPr>
        <p:spPr>
          <a:xfrm>
            <a:off x="6217920" y="1920240"/>
            <a:ext cx="2286000" cy="731520"/>
          </a:xfrm>
          <a:prstGeom prst="rect">
            <a:avLst/>
          </a:prstGeom>
          <a:noFill/>
          <a:ln/>
        </p:spPr>
        <p:txBody>
          <a:bodyPr wrap="square" lIns="0" tIns="0" rIns="0" bIns="0" rtlCol="0" anchor="t"/>
          <a:lstStyle/>
          <a:p>
            <a:pPr indent="0" marL="0">
              <a:buNone/>
            </a:pPr>
            <a:r>
              <a:rPr lang="en-US" sz="1400" dirty="0">
                <a:solidFill>
                  <a:schemeClr val="tx1"/>
                </a:solidFill>
              </a:rPr>
              <a:t>of revenue comes from Blue cards</a:t>
            </a:r>
            <a:endParaRPr lang="en-US" sz="1400" dirty="0"/>
          </a:p>
        </p:txBody>
      </p:sp>
      <p:sp>
        <p:nvSpPr>
          <p:cNvPr id="7" name="Stat card Interest"/>
          <p:cNvSpPr/>
          <p:nvPr/>
        </p:nvSpPr>
        <p:spPr>
          <a:xfrm>
            <a:off x="6035040" y="2926080"/>
            <a:ext cx="2651760" cy="1600200"/>
          </a:xfrm>
          <a:prstGeom prst="roundRect">
            <a:avLst>
              <a:gd name="adj" fmla="val 6857"/>
            </a:avLst>
          </a:prstGeom>
          <a:solidFill>
            <a:schemeClr val="bg2"/>
          </a:solidFill>
          <a:ln/>
        </p:spPr>
      </p:sp>
      <p:sp>
        <p:nvSpPr>
          <p:cNvPr id="8" name="Interest stat"/>
          <p:cNvSpPr txBox="1"/>
          <p:nvPr/>
        </p:nvSpPr>
        <p:spPr>
          <a:xfrm>
            <a:off x="6217920" y="3017520"/>
            <a:ext cx="2286000" cy="59436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14.2%</a:t>
            </a:r>
            <a:endParaRPr lang="en-US" sz="3600" dirty="0"/>
          </a:p>
        </p:txBody>
      </p:sp>
      <p:sp>
        <p:nvSpPr>
          <p:cNvPr id="9" name="Interest label"/>
          <p:cNvSpPr txBox="1"/>
          <p:nvPr/>
        </p:nvSpPr>
        <p:spPr>
          <a:xfrm>
            <a:off x="6217920" y="3657600"/>
            <a:ext cx="2286000" cy="777240"/>
          </a:xfrm>
          <a:prstGeom prst="rect">
            <a:avLst/>
          </a:prstGeom>
          <a:noFill/>
          <a:ln/>
        </p:spPr>
        <p:txBody>
          <a:bodyPr wrap="square" lIns="0" tIns="0" rIns="0" bIns="0" rtlCol="0" anchor="t"/>
          <a:lstStyle/>
          <a:p>
            <a:pPr indent="0" marL="0">
              <a:buNone/>
            </a:pPr>
            <a:r>
              <a:rPr lang="en-US" sz="1400" dirty="0">
                <a:solidFill>
                  <a:schemeClr val="tx1"/>
                </a:solidFill>
              </a:rPr>
              <a:t>interest as a share of revenue. Gold is highest at 15.2%.</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chemeClr val="tx2"/>
                </a:solidFill>
              </a:rPr>
              <a:t>Bills lead spend and swipe leads channels</a:t>
            </a:r>
            <a:endParaRPr lang="en-US" sz="2800" dirty="0"/>
          </a:p>
        </p:txBody>
      </p:sp>
      <p:sp>
        <p:nvSpPr>
          <p:cNvPr id="3" name="Spend chart card"/>
          <p:cNvSpPr/>
          <p:nvPr/>
        </p:nvSpPr>
        <p:spPr>
          <a:xfrm>
            <a:off x="457200" y="1143000"/>
            <a:ext cx="4937760" cy="2788920"/>
          </a:xfrm>
          <a:prstGeom prst="roundRect">
            <a:avLst>
              <a:gd name="adj" fmla="val 3934"/>
            </a:avLst>
          </a:prstGeom>
          <a:solidFill>
            <a:schemeClr val="bg2"/>
          </a:solidFill>
          <a:ln/>
        </p:spPr>
      </p:sp>
      <p:graphicFrame>
        <p:nvGraphicFramePr>
          <p:cNvPr id="4" name="Revenue by expenditure type (M)" descr=""/>
          <p:cNvGraphicFramePr/>
          <p:nvPr/>
        </p:nvGraphicFramePr>
        <p:xfrm>
          <a:off x="548640" y="1188720"/>
          <a:ext cx="4754880" cy="2697480"/>
        </p:xfrm>
        <a:graphic xmlns:a="http://schemas.openxmlformats.org/drawingml/2006/main">
          <a:graphicData uri="http://schemas.openxmlformats.org/drawingml/2006/chart">
            <c:chart xmlns:c="http://schemas.openxmlformats.org/drawingml/2006/chart" r:id="rId1"/>
          </a:graphicData>
        </a:graphic>
      </p:graphicFrame>
      <p:sp>
        <p:nvSpPr>
          <p:cNvPr id="5" name="Channel chart card"/>
          <p:cNvSpPr/>
          <p:nvPr/>
        </p:nvSpPr>
        <p:spPr>
          <a:xfrm>
            <a:off x="5577840" y="1143000"/>
            <a:ext cx="3108960" cy="2788920"/>
          </a:xfrm>
          <a:prstGeom prst="roundRect">
            <a:avLst>
              <a:gd name="adj" fmla="val 3934"/>
            </a:avLst>
          </a:prstGeom>
          <a:solidFill>
            <a:schemeClr val="bg2"/>
          </a:solidFill>
          <a:ln/>
        </p:spPr>
      </p:sp>
      <p:graphicFrame>
        <p:nvGraphicFramePr>
          <p:cNvPr id="6" name="Channel chart" descr=""/>
          <p:cNvGraphicFramePr/>
          <p:nvPr/>
        </p:nvGraphicFramePr>
        <p:xfrm>
          <a:off x="5669280" y="1188720"/>
          <a:ext cx="2926080" cy="2697480"/>
        </p:xfrm>
        <a:graphic xmlns:a="http://schemas.openxmlformats.org/drawingml/2006/main">
          <a:graphicData uri="http://schemas.openxmlformats.org/drawingml/2006/chart">
            <c:chart xmlns:c="http://schemas.openxmlformats.org/drawingml/2006/chart" r:id="rId2"/>
          </a:graphicData>
        </a:graphic>
      </p:graphicFrame>
      <p:sp>
        <p:nvSpPr>
          <p:cNvPr id="7" name="Insight strip"/>
          <p:cNvSpPr/>
          <p:nvPr/>
        </p:nvSpPr>
        <p:spPr>
          <a:xfrm>
            <a:off x="457200" y="4069080"/>
            <a:ext cx="8229600" cy="457200"/>
          </a:xfrm>
          <a:prstGeom prst="roundRect">
            <a:avLst>
              <a:gd name="adj" fmla="val 24000"/>
            </a:avLst>
          </a:prstGeom>
          <a:solidFill>
            <a:schemeClr val="tx2"/>
          </a:solidFill>
          <a:ln/>
        </p:spPr>
      </p:sp>
      <p:sp>
        <p:nvSpPr>
          <p:cNvPr id="8" name="Insight text"/>
          <p:cNvSpPr txBox="1"/>
          <p:nvPr/>
        </p:nvSpPr>
        <p:spPr>
          <a:xfrm>
            <a:off x="640080" y="4069080"/>
            <a:ext cx="7863840" cy="457200"/>
          </a:xfrm>
          <a:prstGeom prst="rect">
            <a:avLst/>
          </a:prstGeom>
          <a:noFill/>
          <a:ln/>
        </p:spPr>
        <p:txBody>
          <a:bodyPr wrap="square" lIns="0" tIns="0" rIns="0" bIns="0" rtlCol="0" anchor="ctr"/>
          <a:lstStyle/>
          <a:p>
            <a:pPr indent="0" marL="0">
              <a:buNone/>
            </a:pPr>
            <a:r>
              <a:rPr lang="en-US" sz="1400" dirty="0">
                <a:solidFill>
                  <a:schemeClr val="bg1"/>
                </a:solidFill>
              </a:rPr>
              <a:t>Bills alone is 25% of revenue. Swipe carries 64% of channel revenue; online is only 5%.</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chemeClr val="tx2"/>
                </a:solidFill>
              </a:rPr>
              <a:t>Businessmen and graduates lead revenue</a:t>
            </a:r>
            <a:endParaRPr lang="en-US" sz="2800" dirty="0"/>
          </a:p>
        </p:txBody>
      </p:sp>
      <p:sp>
        <p:nvSpPr>
          <p:cNvPr id="3" name="Job chart card"/>
          <p:cNvSpPr/>
          <p:nvPr/>
        </p:nvSpPr>
        <p:spPr>
          <a:xfrm>
            <a:off x="457200" y="1143000"/>
            <a:ext cx="4023360" cy="2788920"/>
          </a:xfrm>
          <a:prstGeom prst="roundRect">
            <a:avLst>
              <a:gd name="adj" fmla="val 3934"/>
            </a:avLst>
          </a:prstGeom>
          <a:solidFill>
            <a:schemeClr val="bg2"/>
          </a:solidFill>
          <a:ln/>
        </p:spPr>
      </p:sp>
      <p:graphicFrame>
        <p:nvGraphicFramePr>
          <p:cNvPr id="4" name="Revenue by customer job (M)" descr=""/>
          <p:cNvGraphicFramePr/>
          <p:nvPr/>
        </p:nvGraphicFramePr>
        <p:xfrm>
          <a:off x="548640" y="1188720"/>
          <a:ext cx="3840480" cy="2697480"/>
        </p:xfrm>
        <a:graphic xmlns:a="http://schemas.openxmlformats.org/drawingml/2006/main">
          <a:graphicData uri="http://schemas.openxmlformats.org/drawingml/2006/chart">
            <c:chart xmlns:c="http://schemas.openxmlformats.org/drawingml/2006/chart" r:id="rId1"/>
          </a:graphicData>
        </a:graphic>
      </p:graphicFrame>
      <p:sp>
        <p:nvSpPr>
          <p:cNvPr id="5" name="Education chart card"/>
          <p:cNvSpPr/>
          <p:nvPr/>
        </p:nvSpPr>
        <p:spPr>
          <a:xfrm>
            <a:off x="4663440" y="1143000"/>
            <a:ext cx="4023360" cy="2788920"/>
          </a:xfrm>
          <a:prstGeom prst="roundRect">
            <a:avLst>
              <a:gd name="adj" fmla="val 3934"/>
            </a:avLst>
          </a:prstGeom>
          <a:solidFill>
            <a:schemeClr val="bg2"/>
          </a:solidFill>
          <a:ln/>
        </p:spPr>
      </p:sp>
      <p:graphicFrame>
        <p:nvGraphicFramePr>
          <p:cNvPr id="6" name="Revenue by education level (M)" descr=""/>
          <p:cNvGraphicFramePr/>
          <p:nvPr/>
        </p:nvGraphicFramePr>
        <p:xfrm>
          <a:off x="4754880" y="1188720"/>
          <a:ext cx="3840480" cy="2697480"/>
        </p:xfrm>
        <a:graphic xmlns:a="http://schemas.openxmlformats.org/drawingml/2006/main">
          <a:graphicData uri="http://schemas.openxmlformats.org/drawingml/2006/chart">
            <c:chart xmlns:c="http://schemas.openxmlformats.org/drawingml/2006/chart" r:id="rId2"/>
          </a:graphicData>
        </a:graphic>
      </p:graphicFrame>
      <p:sp>
        <p:nvSpPr>
          <p:cNvPr id="7" name="Insight strip"/>
          <p:cNvSpPr/>
          <p:nvPr/>
        </p:nvSpPr>
        <p:spPr>
          <a:xfrm>
            <a:off x="457200" y="4069080"/>
            <a:ext cx="8229600" cy="457200"/>
          </a:xfrm>
          <a:prstGeom prst="roundRect">
            <a:avLst>
              <a:gd name="adj" fmla="val 24000"/>
            </a:avLst>
          </a:prstGeom>
          <a:solidFill>
            <a:schemeClr val="tx2"/>
          </a:solidFill>
          <a:ln/>
        </p:spPr>
      </p:sp>
      <p:sp>
        <p:nvSpPr>
          <p:cNvPr id="8" name="Insight text"/>
          <p:cNvSpPr txBox="1"/>
          <p:nvPr/>
        </p:nvSpPr>
        <p:spPr>
          <a:xfrm>
            <a:off x="640080" y="4069080"/>
            <a:ext cx="7863840" cy="457200"/>
          </a:xfrm>
          <a:prstGeom prst="rect">
            <a:avLst/>
          </a:prstGeom>
          <a:noFill/>
          <a:ln/>
        </p:spPr>
        <p:txBody>
          <a:bodyPr wrap="square" lIns="0" tIns="0" rIns="0" bIns="0" rtlCol="0" anchor="ctr"/>
          <a:lstStyle/>
          <a:p>
            <a:pPr indent="0" marL="0">
              <a:buNone/>
            </a:pPr>
            <a:r>
              <a:rPr lang="en-US" sz="1400" dirty="0">
                <a:solidFill>
                  <a:schemeClr val="bg1"/>
                </a:solidFill>
              </a:rPr>
              <a:t>Businessman is 31% of revenue and Graduate is 40%. Retirees and Doctorate are the smallest groups.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chemeClr val="tx2"/>
                </a:solidFill>
              </a:rPr>
              <a:t>Ages 40 to 60 deliver about 80% of revenue</a:t>
            </a:r>
            <a:endParaRPr lang="en-US" sz="2800" dirty="0"/>
          </a:p>
        </p:txBody>
      </p:sp>
      <p:sp>
        <p:nvSpPr>
          <p:cNvPr id="3" name="Age chart card"/>
          <p:cNvSpPr/>
          <p:nvPr/>
        </p:nvSpPr>
        <p:spPr>
          <a:xfrm>
            <a:off x="457200" y="1143000"/>
            <a:ext cx="4023360" cy="2468880"/>
          </a:xfrm>
          <a:prstGeom prst="roundRect">
            <a:avLst>
              <a:gd name="adj" fmla="val 4444"/>
            </a:avLst>
          </a:prstGeom>
          <a:solidFill>
            <a:schemeClr val="bg2"/>
          </a:solidFill>
          <a:ln/>
        </p:spPr>
      </p:sp>
      <p:graphicFrame>
        <p:nvGraphicFramePr>
          <p:cNvPr id="4" name="Revenue by age group (M)" descr=""/>
          <p:cNvGraphicFramePr/>
          <p:nvPr/>
        </p:nvGraphicFramePr>
        <p:xfrm>
          <a:off x="548640" y="1188720"/>
          <a:ext cx="3840480" cy="2377440"/>
        </p:xfrm>
        <a:graphic xmlns:a="http://schemas.openxmlformats.org/drawingml/2006/main">
          <a:graphicData uri="http://schemas.openxmlformats.org/drawingml/2006/chart">
            <c:chart xmlns:c="http://schemas.openxmlformats.org/drawingml/2006/chart" r:id="rId1"/>
          </a:graphicData>
        </a:graphic>
      </p:graphicFrame>
      <p:sp>
        <p:nvSpPr>
          <p:cNvPr id="5" name="Income chart card"/>
          <p:cNvSpPr/>
          <p:nvPr/>
        </p:nvSpPr>
        <p:spPr>
          <a:xfrm>
            <a:off x="4663440" y="1143000"/>
            <a:ext cx="4023360" cy="2468880"/>
          </a:xfrm>
          <a:prstGeom prst="roundRect">
            <a:avLst>
              <a:gd name="adj" fmla="val 4444"/>
            </a:avLst>
          </a:prstGeom>
          <a:solidFill>
            <a:schemeClr val="bg2"/>
          </a:solidFill>
          <a:ln/>
        </p:spPr>
      </p:sp>
      <p:graphicFrame>
        <p:nvGraphicFramePr>
          <p:cNvPr id="6" name="Revenue by income group (M)" descr=""/>
          <p:cNvGraphicFramePr/>
          <p:nvPr/>
        </p:nvGraphicFramePr>
        <p:xfrm>
          <a:off x="4754880" y="1188720"/>
          <a:ext cx="3840480" cy="2377440"/>
        </p:xfrm>
        <a:graphic xmlns:a="http://schemas.openxmlformats.org/drawingml/2006/main">
          <a:graphicData uri="http://schemas.openxmlformats.org/drawingml/2006/chart">
            <c:chart xmlns:c="http://schemas.openxmlformats.org/drawingml/2006/chart" r:id="rId2"/>
          </a:graphicData>
        </a:graphic>
      </p:graphicFrame>
      <p:sp>
        <p:nvSpPr>
          <p:cNvPr id="7" name="Gender strip"/>
          <p:cNvSpPr/>
          <p:nvPr/>
        </p:nvSpPr>
        <p:spPr>
          <a:xfrm>
            <a:off x="457200" y="3749040"/>
            <a:ext cx="8229600" cy="777240"/>
          </a:xfrm>
          <a:prstGeom prst="roundRect">
            <a:avLst>
              <a:gd name="adj" fmla="val 14118"/>
            </a:avLst>
          </a:prstGeom>
          <a:solidFill>
            <a:schemeClr val="tx2"/>
          </a:solidFill>
          <a:ln/>
        </p:spPr>
      </p:sp>
      <p:sp>
        <p:nvSpPr>
          <p:cNvPr id="8" name="Male stat"/>
          <p:cNvSpPr txBox="1"/>
          <p:nvPr/>
        </p:nvSpPr>
        <p:spPr>
          <a:xfrm>
            <a:off x="731520" y="3794760"/>
            <a:ext cx="1188720" cy="685800"/>
          </a:xfrm>
          <a:prstGeom prst="rect">
            <a:avLst/>
          </a:prstGeom>
          <a:noFill/>
          <a:ln/>
        </p:spPr>
        <p:txBody>
          <a:bodyPr wrap="square" lIns="0" tIns="0" rIns="0" bIns="0" rtlCol="0" anchor="ctr"/>
          <a:lstStyle/>
          <a:p>
            <a:pPr indent="0" marL="0">
              <a:buNone/>
            </a:pPr>
            <a:r>
              <a:rPr lang="en-US" sz="3000" b="1" dirty="0">
                <a:solidFill>
                  <a:schemeClr val="accent6"/>
                </a:solidFill>
                <a:latin typeface="Cambria" pitchFamily="34" charset="0"/>
                <a:ea typeface="Cambria" pitchFamily="34" charset="-122"/>
                <a:cs typeface="Cambria" pitchFamily="34" charset="-120"/>
              </a:rPr>
              <a:t>30M</a:t>
            </a:r>
            <a:endParaRPr lang="en-US" sz="3000" dirty="0"/>
          </a:p>
        </p:txBody>
      </p:sp>
      <p:sp>
        <p:nvSpPr>
          <p:cNvPr id="9" name="Male label"/>
          <p:cNvSpPr txBox="1"/>
          <p:nvPr/>
        </p:nvSpPr>
        <p:spPr>
          <a:xfrm>
            <a:off x="1920240" y="3794760"/>
            <a:ext cx="2194560" cy="685800"/>
          </a:xfrm>
          <a:prstGeom prst="rect">
            <a:avLst/>
          </a:prstGeom>
          <a:noFill/>
          <a:ln/>
        </p:spPr>
        <p:txBody>
          <a:bodyPr wrap="square" lIns="0" tIns="0" rIns="0" bIns="0" rtlCol="0" anchor="ctr"/>
          <a:lstStyle/>
          <a:p>
            <a:pPr indent="0" marL="0">
              <a:buNone/>
            </a:pPr>
            <a:r>
              <a:rPr lang="en-US" sz="1400" dirty="0">
                <a:solidFill>
                  <a:schemeClr val="bg1"/>
                </a:solidFill>
              </a:rPr>
              <a:t>Male revenue (54%)</a:t>
            </a:r>
            <a:endParaRPr lang="en-US" sz="1400" dirty="0"/>
          </a:p>
        </p:txBody>
      </p:sp>
      <p:sp>
        <p:nvSpPr>
          <p:cNvPr id="10" name="Female stat"/>
          <p:cNvSpPr txBox="1"/>
          <p:nvPr/>
        </p:nvSpPr>
        <p:spPr>
          <a:xfrm>
            <a:off x="4754880" y="3794760"/>
            <a:ext cx="1188720" cy="685800"/>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25M</a:t>
            </a:r>
            <a:endParaRPr lang="en-US" sz="3000" dirty="0"/>
          </a:p>
        </p:txBody>
      </p:sp>
      <p:sp>
        <p:nvSpPr>
          <p:cNvPr id="11" name="Female label"/>
          <p:cNvSpPr txBox="1"/>
          <p:nvPr/>
        </p:nvSpPr>
        <p:spPr>
          <a:xfrm>
            <a:off x="5943600" y="3794760"/>
            <a:ext cx="2560320" cy="685800"/>
          </a:xfrm>
          <a:prstGeom prst="rect">
            <a:avLst/>
          </a:prstGeom>
          <a:noFill/>
          <a:ln/>
        </p:spPr>
        <p:txBody>
          <a:bodyPr wrap="square" lIns="0" tIns="0" rIns="0" bIns="0" rtlCol="0" anchor="ctr"/>
          <a:lstStyle/>
          <a:p>
            <a:pPr indent="0" marL="0">
              <a:buNone/>
            </a:pPr>
            <a:r>
              <a:rPr lang="en-US" sz="1400" dirty="0">
                <a:solidFill>
                  <a:schemeClr val="bg1"/>
                </a:solidFill>
              </a:rPr>
              <a:t>Female revenue (46%)</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chemeClr val="tx2"/>
                </a:solidFill>
              </a:rPr>
              <a:t>Revenue is concentrated in three states</a:t>
            </a:r>
            <a:endParaRPr lang="en-US" sz="2800" dirty="0"/>
          </a:p>
        </p:txBody>
      </p:sp>
      <p:sp>
        <p:nvSpPr>
          <p:cNvPr id="3" name="State chart card"/>
          <p:cNvSpPr/>
          <p:nvPr/>
        </p:nvSpPr>
        <p:spPr>
          <a:xfrm>
            <a:off x="457200" y="1143000"/>
            <a:ext cx="4937760" cy="2788920"/>
          </a:xfrm>
          <a:prstGeom prst="roundRect">
            <a:avLst>
              <a:gd name="adj" fmla="val 3934"/>
            </a:avLst>
          </a:prstGeom>
          <a:solidFill>
            <a:schemeClr val="bg2"/>
          </a:solidFill>
          <a:ln/>
        </p:spPr>
      </p:sp>
      <p:graphicFrame>
        <p:nvGraphicFramePr>
          <p:cNvPr id="4" name="Revenue by state (M)" descr=""/>
          <p:cNvGraphicFramePr/>
          <p:nvPr/>
        </p:nvGraphicFramePr>
        <p:xfrm>
          <a:off x="548640" y="1188720"/>
          <a:ext cx="4754880" cy="2697480"/>
        </p:xfrm>
        <a:graphic xmlns:a="http://schemas.openxmlformats.org/drawingml/2006/main">
          <a:graphicData uri="http://schemas.openxmlformats.org/drawingml/2006/chart">
            <c:chart xmlns:c="http://schemas.openxmlformats.org/drawingml/2006/chart" r:id="rId1"/>
          </a:graphicData>
        </a:graphic>
      </p:graphicFrame>
      <p:sp>
        <p:nvSpPr>
          <p:cNvPr id="5" name="Marital chart card"/>
          <p:cNvSpPr/>
          <p:nvPr/>
        </p:nvSpPr>
        <p:spPr>
          <a:xfrm>
            <a:off x="5577840" y="1143000"/>
            <a:ext cx="3108960" cy="2788920"/>
          </a:xfrm>
          <a:prstGeom prst="roundRect">
            <a:avLst>
              <a:gd name="adj" fmla="val 3934"/>
            </a:avLst>
          </a:prstGeom>
          <a:solidFill>
            <a:schemeClr val="bg2"/>
          </a:solidFill>
          <a:ln/>
        </p:spPr>
      </p:sp>
      <p:graphicFrame>
        <p:nvGraphicFramePr>
          <p:cNvPr id="6" name="Revenue by marital status (M)" descr=""/>
          <p:cNvGraphicFramePr/>
          <p:nvPr/>
        </p:nvGraphicFramePr>
        <p:xfrm>
          <a:off x="5669280" y="1188720"/>
          <a:ext cx="2926080" cy="2697480"/>
        </p:xfrm>
        <a:graphic xmlns:a="http://schemas.openxmlformats.org/drawingml/2006/main">
          <a:graphicData uri="http://schemas.openxmlformats.org/drawingml/2006/chart">
            <c:chart xmlns:c="http://schemas.openxmlformats.org/drawingml/2006/chart" r:id="rId2"/>
          </a:graphicData>
        </a:graphic>
      </p:graphicFrame>
      <p:sp>
        <p:nvSpPr>
          <p:cNvPr id="7" name="Insight strip"/>
          <p:cNvSpPr/>
          <p:nvPr/>
        </p:nvSpPr>
        <p:spPr>
          <a:xfrm>
            <a:off x="457200" y="4069080"/>
            <a:ext cx="8229600" cy="457200"/>
          </a:xfrm>
          <a:prstGeom prst="roundRect">
            <a:avLst>
              <a:gd name="adj" fmla="val 24000"/>
            </a:avLst>
          </a:prstGeom>
          <a:solidFill>
            <a:schemeClr val="tx2"/>
          </a:solidFill>
          <a:ln/>
        </p:spPr>
      </p:sp>
      <p:sp>
        <p:nvSpPr>
          <p:cNvPr id="8" name="Insight text"/>
          <p:cNvSpPr txBox="1"/>
          <p:nvPr/>
        </p:nvSpPr>
        <p:spPr>
          <a:xfrm>
            <a:off x="640080" y="4069080"/>
            <a:ext cx="7863840" cy="457200"/>
          </a:xfrm>
          <a:prstGeom prst="rect">
            <a:avLst/>
          </a:prstGeom>
          <a:noFill/>
          <a:ln/>
        </p:spPr>
        <p:txBody>
          <a:bodyPr wrap="square" lIns="0" tIns="0" rIns="0" bIns="0" rtlCol="0" anchor="ctr"/>
          <a:lstStyle/>
          <a:p>
            <a:pPr indent="0" marL="0">
              <a:buNone/>
            </a:pPr>
            <a:r>
              <a:rPr lang="en-US" sz="1400" dirty="0">
                <a:solidFill>
                  <a:schemeClr val="bg1"/>
                </a:solidFill>
              </a:rPr>
              <a:t>TX, NY and CA together account for about 69% of revenue. Married customers add 28M.</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chemeClr val="bg1"/>
                </a:solidFill>
              </a:rPr>
              <a:t>Key insights and next steps</a:t>
            </a:r>
            <a:endParaRPr lang="en-US" sz="2800" dirty="0"/>
          </a:p>
        </p:txBody>
      </p:sp>
      <p:sp>
        <p:nvSpPr>
          <p:cNvPr id="3" name="Column card 1"/>
          <p:cNvSpPr/>
          <p:nvPr/>
        </p:nvSpPr>
        <p:spPr>
          <a:xfrm>
            <a:off x="457200" y="1188720"/>
            <a:ext cx="4023360" cy="3337560"/>
          </a:xfrm>
          <a:prstGeom prst="roundRect">
            <a:avLst>
              <a:gd name="adj" fmla="val 3288"/>
            </a:avLst>
          </a:prstGeom>
          <a:solidFill>
            <a:schemeClr val="accent4">
              <a:alpha val="45000"/>
            </a:schemeClr>
          </a:solidFill>
          <a:ln/>
        </p:spPr>
      </p:sp>
      <p:sp>
        <p:nvSpPr>
          <p:cNvPr id="4" name="Column heading 1"/>
          <p:cNvSpPr txBox="1"/>
          <p:nvPr/>
        </p:nvSpPr>
        <p:spPr>
          <a:xfrm>
            <a:off x="685800" y="1325880"/>
            <a:ext cx="3566160" cy="411480"/>
          </a:xfrm>
          <a:prstGeom prst="rect">
            <a:avLst/>
          </a:prstGeom>
          <a:noFill/>
          <a:ln/>
        </p:spPr>
        <p:txBody>
          <a:bodyPr wrap="square" lIns="0" tIns="0" rIns="0" bIns="0" rtlCol="0" anchor="ctr"/>
          <a:lstStyle/>
          <a:p>
            <a:pPr indent="0" marL="0">
              <a:buNone/>
            </a:pPr>
            <a:r>
              <a:rPr lang="en-US" sz="1800" b="1" dirty="0">
                <a:solidFill>
                  <a:schemeClr val="accent6"/>
                </a:solidFill>
                <a:latin typeface="Cambria" pitchFamily="34" charset="0"/>
                <a:ea typeface="Cambria" pitchFamily="34" charset="-122"/>
                <a:cs typeface="Cambria" pitchFamily="34" charset="-120"/>
              </a:rPr>
              <a:t>What we saw</a:t>
            </a:r>
            <a:endParaRPr lang="en-US" sz="1800" dirty="0"/>
          </a:p>
        </p:txBody>
      </p:sp>
      <p:sp>
        <p:nvSpPr>
          <p:cNvPr id="5" name="Column list 1"/>
          <p:cNvSpPr txBox="1"/>
          <p:nvPr/>
        </p:nvSpPr>
        <p:spPr>
          <a:xfrm>
            <a:off x="685800" y="1828800"/>
            <a:ext cx="356616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Revenue held at 13.8M to 14.2M until Q4, then fell to 13.3M.</a:t>
            </a:r>
            <a:endParaRPr lang="en-US" sz="1400" dirty="0"/>
          </a:p>
          <a:p>
            <a:pPr marL="342900" indent="-342900">
              <a:spcAft>
                <a:spcPts val="800"/>
              </a:spcAft>
              <a:buSzPct val="100000"/>
              <a:buChar char="•"/>
            </a:pPr>
            <a:r>
              <a:rPr lang="en-US" sz="1400" dirty="0">
                <a:solidFill>
                  <a:schemeClr val="bg1"/>
                </a:solidFill>
              </a:rPr>
              <a:t>Blue cards are 83% of revenue; Gold and Platinum about 6%.</a:t>
            </a:r>
            <a:endParaRPr lang="en-US" sz="1400" dirty="0"/>
          </a:p>
          <a:p>
            <a:pPr marL="342900" indent="-342900">
              <a:spcAft>
                <a:spcPts val="800"/>
              </a:spcAft>
              <a:buSzPct val="100000"/>
              <a:buChar char="•"/>
            </a:pPr>
            <a:r>
              <a:rPr lang="en-US" sz="1400" dirty="0">
                <a:solidFill>
                  <a:schemeClr val="bg1"/>
                </a:solidFill>
              </a:rPr>
              <a:t>Online is 5% of revenue; swipe is 64%.</a:t>
            </a:r>
            <a:endParaRPr lang="en-US" sz="1400" dirty="0"/>
          </a:p>
        </p:txBody>
      </p:sp>
      <p:sp>
        <p:nvSpPr>
          <p:cNvPr id="6" name="Column card 2"/>
          <p:cNvSpPr/>
          <p:nvPr/>
        </p:nvSpPr>
        <p:spPr>
          <a:xfrm>
            <a:off x="4663440" y="1188720"/>
            <a:ext cx="4023360" cy="3337560"/>
          </a:xfrm>
          <a:prstGeom prst="roundRect">
            <a:avLst>
              <a:gd name="adj" fmla="val 3288"/>
            </a:avLst>
          </a:prstGeom>
          <a:solidFill>
            <a:schemeClr val="accent4">
              <a:alpha val="45000"/>
            </a:schemeClr>
          </a:solidFill>
          <a:ln/>
        </p:spPr>
      </p:sp>
      <p:sp>
        <p:nvSpPr>
          <p:cNvPr id="7" name="Column heading 2"/>
          <p:cNvSpPr txBox="1"/>
          <p:nvPr/>
        </p:nvSpPr>
        <p:spPr>
          <a:xfrm>
            <a:off x="4892040" y="1325880"/>
            <a:ext cx="3566160" cy="411480"/>
          </a:xfrm>
          <a:prstGeom prst="rect">
            <a:avLst/>
          </a:prstGeom>
          <a:noFill/>
          <a:ln/>
        </p:spPr>
        <p:txBody>
          <a:bodyPr wrap="square" lIns="0" tIns="0" rIns="0" bIns="0" rtlCol="0" anchor="ctr"/>
          <a:lstStyle/>
          <a:p>
            <a:pPr indent="0" marL="0">
              <a:buNone/>
            </a:pPr>
            <a:r>
              <a:rPr lang="en-US" sz="1800" b="1" dirty="0">
                <a:solidFill>
                  <a:schemeClr val="accent3"/>
                </a:solidFill>
                <a:latin typeface="Cambria" pitchFamily="34" charset="0"/>
                <a:ea typeface="Cambria" pitchFamily="34" charset="-122"/>
                <a:cs typeface="Cambria" pitchFamily="34" charset="-120"/>
              </a:rPr>
              <a:t>Suggested next steps</a:t>
            </a:r>
            <a:endParaRPr lang="en-US" sz="1800" dirty="0"/>
          </a:p>
        </p:txBody>
      </p:sp>
      <p:sp>
        <p:nvSpPr>
          <p:cNvPr id="8" name="Column list 2"/>
          <p:cNvSpPr txBox="1"/>
          <p:nvPr/>
        </p:nvSpPr>
        <p:spPr>
          <a:xfrm>
            <a:off x="4892040" y="1828800"/>
            <a:ext cx="356616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Find the driver of the Q4 dip by card tier and channel.</a:t>
            </a:r>
            <a:endParaRPr lang="en-US" sz="1400" dirty="0"/>
          </a:p>
          <a:p>
            <a:pPr marL="342900" indent="-342900">
              <a:spcAft>
                <a:spcPts val="800"/>
              </a:spcAft>
              <a:buSzPct val="100000"/>
              <a:buChar char="•"/>
            </a:pPr>
            <a:r>
              <a:rPr lang="en-US" sz="1400" dirty="0">
                <a:solidFill>
                  <a:schemeClr val="bg1"/>
                </a:solidFill>
              </a:rPr>
              <a:t>Grow Gold and Platinum with targeted offers.</a:t>
            </a:r>
            <a:endParaRPr lang="en-US" sz="1400" dirty="0"/>
          </a:p>
          <a:p>
            <a:pPr marL="342900" indent="-342900">
              <a:spcAft>
                <a:spcPts val="800"/>
              </a:spcAft>
              <a:buSzPct val="100000"/>
              <a:buChar char="•"/>
            </a:pPr>
            <a:r>
              <a:rPr lang="en-US" sz="1400" dirty="0">
                <a:solidFill>
                  <a:schemeClr val="bg1"/>
                </a:solidFill>
              </a:rPr>
              <a:t>Push online usage and digital engagement.</a:t>
            </a:r>
            <a:endParaRPr lang="en-US" sz="1400" dirty="0"/>
          </a:p>
          <a:p>
            <a:pPr marL="342900" indent="-342900">
              <a:spcAft>
                <a:spcPts val="800"/>
              </a:spcAft>
              <a:buSzPct val="100000"/>
              <a:buChar char="•"/>
            </a:pPr>
            <a:r>
              <a:rPr lang="en-US" sz="1400" dirty="0">
                <a:solidFill>
                  <a:schemeClr val="bg1"/>
                </a:solidFill>
              </a:rPr>
              <a:t>Check the late-summer week showing near-zero revenue for a data gap.</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chemeClr val="bg1"/>
                </a:solidFill>
              </a:rPr>
              <a:t>Let's connect</a:t>
            </a:r>
            <a:endParaRPr lang="en-US" sz="2800" dirty="0"/>
          </a:p>
        </p:txBody>
      </p:sp>
      <p:sp>
        <p:nvSpPr>
          <p:cNvPr id="3" name="Contact card 1"/>
          <p:cNvSpPr/>
          <p:nvPr/>
        </p:nvSpPr>
        <p:spPr>
          <a:xfrm>
            <a:off x="1371600" y="1280160"/>
            <a:ext cx="6400800" cy="868680"/>
          </a:xfrm>
          <a:prstGeom prst="roundRect">
            <a:avLst>
              <a:gd name="adj" fmla="val 12632"/>
            </a:avLst>
          </a:prstGeom>
          <a:solidFill>
            <a:schemeClr val="accent4">
              <a:alpha val="45000"/>
            </a:schemeClr>
          </a:solidFill>
          <a:ln/>
        </p:spPr>
      </p:sp>
      <p:sp>
        <p:nvSpPr>
          <p:cNvPr id="4" name="Contact label 1"/>
          <p:cNvSpPr txBox="1"/>
          <p:nvPr/>
        </p:nvSpPr>
        <p:spPr>
          <a:xfrm>
            <a:off x="1645920" y="1280160"/>
            <a:ext cx="1371600" cy="868680"/>
          </a:xfrm>
          <a:prstGeom prst="rect">
            <a:avLst/>
          </a:prstGeom>
          <a:noFill/>
          <a:ln/>
        </p:spPr>
        <p:txBody>
          <a:bodyPr wrap="square" lIns="0" tIns="0" rIns="0" bIns="0" rtlCol="0" anchor="ctr"/>
          <a:lstStyle/>
          <a:p>
            <a:pPr indent="0" marL="0">
              <a:buNone/>
            </a:pPr>
            <a:r>
              <a:rPr lang="en-US" sz="1400" b="1" dirty="0">
                <a:solidFill>
                  <a:schemeClr val="accent3"/>
                </a:solidFill>
              </a:rPr>
              <a:t>LinkedIn</a:t>
            </a:r>
            <a:endParaRPr lang="en-US" sz="1400" dirty="0"/>
          </a:p>
        </p:txBody>
      </p:sp>
      <p:sp>
        <p:nvSpPr>
          <p:cNvPr id="5" name="Contact value 1"/>
          <p:cNvSpPr txBox="1"/>
          <p:nvPr/>
        </p:nvSpPr>
        <p:spPr>
          <a:xfrm>
            <a:off x="3017520" y="1280160"/>
            <a:ext cx="4572000" cy="868680"/>
          </a:xfrm>
          <a:prstGeom prst="rect">
            <a:avLst/>
          </a:prstGeom>
          <a:noFill/>
          <a:ln/>
        </p:spPr>
        <p:txBody>
          <a:bodyPr wrap="square" lIns="0" tIns="0" rIns="0" bIns="0" rtlCol="0" anchor="ctr"/>
          <a:lstStyle/>
          <a:p>
            <a:pPr indent="0" marL="0">
              <a:buNone/>
            </a:pPr>
            <a:r>
              <a:rPr lang="en-US" sz="1800"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www.linkedin.com/in/pms90</a:t>
            </a:r>
            <a:endParaRPr lang="en-US" sz="1800" dirty="0"/>
          </a:p>
        </p:txBody>
      </p:sp>
      <p:sp>
        <p:nvSpPr>
          <p:cNvPr id="6" name="Contact card 2"/>
          <p:cNvSpPr/>
          <p:nvPr/>
        </p:nvSpPr>
        <p:spPr>
          <a:xfrm>
            <a:off x="1371600" y="2331720"/>
            <a:ext cx="6400800" cy="868680"/>
          </a:xfrm>
          <a:prstGeom prst="roundRect">
            <a:avLst>
              <a:gd name="adj" fmla="val 12632"/>
            </a:avLst>
          </a:prstGeom>
          <a:solidFill>
            <a:schemeClr val="accent4">
              <a:alpha val="45000"/>
            </a:schemeClr>
          </a:solidFill>
          <a:ln/>
        </p:spPr>
      </p:sp>
      <p:sp>
        <p:nvSpPr>
          <p:cNvPr id="7" name="Contact label 2"/>
          <p:cNvSpPr txBox="1"/>
          <p:nvPr/>
        </p:nvSpPr>
        <p:spPr>
          <a:xfrm>
            <a:off x="1645920" y="2331720"/>
            <a:ext cx="1371600" cy="868680"/>
          </a:xfrm>
          <a:prstGeom prst="rect">
            <a:avLst/>
          </a:prstGeom>
          <a:noFill/>
          <a:ln/>
        </p:spPr>
        <p:txBody>
          <a:bodyPr wrap="square" lIns="0" tIns="0" rIns="0" bIns="0" rtlCol="0" anchor="ctr"/>
          <a:lstStyle/>
          <a:p>
            <a:pPr indent="0" marL="0">
              <a:buNone/>
            </a:pPr>
            <a:r>
              <a:rPr lang="en-US" sz="1400" b="1" dirty="0">
                <a:solidFill>
                  <a:schemeClr val="accent3"/>
                </a:solidFill>
              </a:rPr>
              <a:t>Mobile</a:t>
            </a:r>
            <a:endParaRPr lang="en-US" sz="1400" dirty="0"/>
          </a:p>
        </p:txBody>
      </p:sp>
      <p:sp>
        <p:nvSpPr>
          <p:cNvPr id="8" name="Contact value 2"/>
          <p:cNvSpPr txBox="1"/>
          <p:nvPr/>
        </p:nvSpPr>
        <p:spPr>
          <a:xfrm>
            <a:off x="3017520" y="2331720"/>
            <a:ext cx="4572000" cy="868680"/>
          </a:xfrm>
          <a:prstGeom prst="rect">
            <a:avLst/>
          </a:prstGeom>
          <a:noFill/>
          <a:ln/>
        </p:spPr>
        <p:txBody>
          <a:bodyPr wrap="square" lIns="0" tIns="0" rIns="0" bIns="0" rtlCol="0" anchor="ctr"/>
          <a:lstStyle/>
          <a:p>
            <a:pPr indent="0" marL="0">
              <a:buNone/>
            </a:pPr>
            <a:r>
              <a:rPr lang="en-US" sz="1800" dirty="0">
                <a:solidFill>
                  <a:schemeClr val="bg1"/>
                </a:solidFill>
              </a:rPr>
              <a:t>9023246899</a:t>
            </a:r>
            <a:endParaRPr lang="en-US" sz="1800" dirty="0"/>
          </a:p>
        </p:txBody>
      </p:sp>
      <p:sp>
        <p:nvSpPr>
          <p:cNvPr id="9" name="Contact card 3"/>
          <p:cNvSpPr/>
          <p:nvPr/>
        </p:nvSpPr>
        <p:spPr>
          <a:xfrm>
            <a:off x="1371600" y="3383280"/>
            <a:ext cx="6400800" cy="868680"/>
          </a:xfrm>
          <a:prstGeom prst="roundRect">
            <a:avLst>
              <a:gd name="adj" fmla="val 12632"/>
            </a:avLst>
          </a:prstGeom>
          <a:solidFill>
            <a:schemeClr val="accent4">
              <a:alpha val="45000"/>
            </a:schemeClr>
          </a:solidFill>
          <a:ln/>
        </p:spPr>
      </p:sp>
      <p:sp>
        <p:nvSpPr>
          <p:cNvPr id="10" name="Contact label 3"/>
          <p:cNvSpPr txBox="1"/>
          <p:nvPr/>
        </p:nvSpPr>
        <p:spPr>
          <a:xfrm>
            <a:off x="1645920" y="3383280"/>
            <a:ext cx="1371600" cy="868680"/>
          </a:xfrm>
          <a:prstGeom prst="rect">
            <a:avLst/>
          </a:prstGeom>
          <a:noFill/>
          <a:ln/>
        </p:spPr>
        <p:txBody>
          <a:bodyPr wrap="square" lIns="0" tIns="0" rIns="0" bIns="0" rtlCol="0" anchor="ctr"/>
          <a:lstStyle/>
          <a:p>
            <a:pPr indent="0" marL="0">
              <a:buNone/>
            </a:pPr>
            <a:r>
              <a:rPr lang="en-US" sz="1400" b="1" dirty="0">
                <a:solidFill>
                  <a:schemeClr val="accent3"/>
                </a:solidFill>
              </a:rPr>
              <a:t>Email</a:t>
            </a:r>
            <a:endParaRPr lang="en-US" sz="1400" dirty="0"/>
          </a:p>
        </p:txBody>
      </p:sp>
      <p:sp>
        <p:nvSpPr>
          <p:cNvPr id="11" name="Contact value 3"/>
          <p:cNvSpPr txBox="1"/>
          <p:nvPr/>
        </p:nvSpPr>
        <p:spPr>
          <a:xfrm>
            <a:off x="3017520" y="3383280"/>
            <a:ext cx="4572000" cy="868680"/>
          </a:xfrm>
          <a:prstGeom prst="rect">
            <a:avLst/>
          </a:prstGeom>
          <a:noFill/>
          <a:ln/>
        </p:spPr>
        <p:txBody>
          <a:bodyPr wrap="square" lIns="0" tIns="0" rIns="0" bIns="0" rtlCol="0" anchor="ctr"/>
          <a:lstStyle/>
          <a:p>
            <a:pPr indent="0" marL="0">
              <a:buNone/>
            </a:pPr>
            <a:r>
              <a:rPr lang="en-US" sz="18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mehulprajapati200425@gmail.com</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redit Card Weekly">
  <a:themeElements>
    <a:clrScheme name="Credit Card Weekly">
      <a:dk1>
        <a:srgbClr val="1B1F2A"/>
      </a:dk1>
      <a:lt1>
        <a:srgbClr val="FFFFFF"/>
      </a:lt1>
      <a:dk2>
        <a:srgbClr val="0B3B3C"/>
      </a:dk2>
      <a:lt2>
        <a:srgbClr val="EAF3F1"/>
      </a:lt2>
      <a:accent1>
        <a:srgbClr val="0E9F8E"/>
      </a:accent1>
      <a:accent2>
        <a:srgbClr val="6B8E3D"/>
      </a:accent2>
      <a:accent3>
        <a:srgbClr val="F2A541"/>
      </a:accent3>
      <a:accent4>
        <a:srgbClr val="4A5D66"/>
      </a:accent4>
      <a:accent5>
        <a:srgbClr val="C8553D"/>
      </a:accent5>
      <a:accent6>
        <a:srgbClr val="9CC9C0"/>
      </a:accent6>
      <a:hlink>
        <a:srgbClr val="0E9F8E"/>
      </a:hlink>
      <a:folHlink>
        <a:srgbClr val="4A5D66"/>
      </a:folHlink>
    </a:clrScheme>
    <a:fontScheme name="Credit Card Weekl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Weekly Report</dc:title>
  <dc:subject>PptxGenJS Presentation</dc:subject>
  <dc:creator>PptxGenJS</dc:creator>
  <cp:lastModifiedBy>PptxGenJS</cp:lastModifiedBy>
  <cp:revision>1</cp:revision>
  <dcterms:created xsi:type="dcterms:W3CDTF">2026-10-22T08:03:23Z</dcterms:created>
  <dcterms:modified xsi:type="dcterms:W3CDTF">2026-10-22T08:03:23Z</dcterms:modified>
</cp:coreProperties>
</file>